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10782300"/>
  <p:notesSz cx="11430000" cy="107823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5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6231" y="444754"/>
            <a:ext cx="7070725" cy="871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73878" y="1856359"/>
            <a:ext cx="4738370" cy="160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32.png"/><Relationship Id="rId14" Type="http://schemas.openxmlformats.org/officeDocument/2006/relationships/image" Target="../media/image33.png"/><Relationship Id="rId15" Type="http://schemas.openxmlformats.org/officeDocument/2006/relationships/image" Target="../media/image3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523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0"/>
              <a:t>Cyber</a:t>
            </a:r>
            <a:r>
              <a:rPr dirty="0" spc="-415"/>
              <a:t> </a:t>
            </a:r>
            <a:r>
              <a:rPr dirty="0" spc="-55"/>
              <a:t>Risk</a:t>
            </a:r>
            <a:r>
              <a:rPr dirty="0" spc="-400"/>
              <a:t> </a:t>
            </a:r>
            <a:r>
              <a:rPr dirty="0" spc="-40"/>
              <a:t>Assessment</a:t>
            </a:r>
          </a:p>
          <a:p>
            <a:pPr marL="12700" marR="634365">
              <a:lnSpc>
                <a:spcPct val="104200"/>
              </a:lnSpc>
              <a:spcBef>
                <a:spcPts val="15"/>
              </a:spcBef>
            </a:pPr>
            <a:r>
              <a:rPr dirty="0" spc="-75"/>
              <a:t>Platform</a:t>
            </a:r>
            <a:r>
              <a:rPr dirty="0" spc="-400"/>
              <a:t> </a:t>
            </a:r>
            <a:r>
              <a:rPr dirty="0" spc="-85"/>
              <a:t>using</a:t>
            </a:r>
            <a:r>
              <a:rPr dirty="0" spc="-395"/>
              <a:t> </a:t>
            </a:r>
            <a:r>
              <a:rPr dirty="0" spc="-45"/>
              <a:t>Agile </a:t>
            </a:r>
            <a:r>
              <a:rPr dirty="0" spc="-10"/>
              <a:t>Methodology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873878" y="3686327"/>
            <a:ext cx="2391410" cy="833119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350" spc="-55" b="1">
                <a:solidFill>
                  <a:srgbClr val="E4DFDF"/>
                </a:solidFill>
                <a:latin typeface="Tahoma"/>
                <a:cs typeface="Tahoma"/>
              </a:rPr>
              <a:t>Deepak</a:t>
            </a:r>
            <a:r>
              <a:rPr dirty="0" sz="1350" spc="-95" b="1">
                <a:solidFill>
                  <a:srgbClr val="E4DFDF"/>
                </a:solidFill>
                <a:latin typeface="Tahoma"/>
                <a:cs typeface="Tahoma"/>
              </a:rPr>
              <a:t> </a:t>
            </a:r>
            <a:r>
              <a:rPr dirty="0" sz="1350" spc="-20" b="1">
                <a:solidFill>
                  <a:srgbClr val="E4DFDF"/>
                </a:solidFill>
                <a:latin typeface="Tahoma"/>
                <a:cs typeface="Tahoma"/>
              </a:rPr>
              <a:t>Kumar</a:t>
            </a:r>
            <a:endParaRPr sz="1350">
              <a:latin typeface="Tahoma"/>
              <a:cs typeface="Tahoma"/>
            </a:endParaRPr>
          </a:p>
          <a:p>
            <a:pPr marL="12700" marR="5080">
              <a:lnSpc>
                <a:spcPts val="2180"/>
              </a:lnSpc>
              <a:spcBef>
                <a:spcPts val="15"/>
              </a:spcBef>
            </a:pP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BTech</a:t>
            </a:r>
            <a:r>
              <a:rPr dirty="0" sz="1350" spc="-17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CSE</a:t>
            </a:r>
            <a:r>
              <a:rPr dirty="0" sz="1350" spc="-19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(Cloud</a:t>
            </a:r>
            <a:r>
              <a:rPr dirty="0" sz="1350" spc="-19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Computing) 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Lovely</a:t>
            </a:r>
            <a:r>
              <a:rPr dirty="0" sz="1350" spc="-1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Professional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University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5996" cy="64382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553200"/>
          </a:xfrm>
          <a:custGeom>
            <a:avLst/>
            <a:gdLst/>
            <a:ahLst/>
            <a:cxnLst/>
            <a:rect l="l" t="t" r="r" b="b"/>
            <a:pathLst>
              <a:path w="11430000" h="6553200">
                <a:moveTo>
                  <a:pt x="11430000" y="0"/>
                </a:moveTo>
                <a:lnTo>
                  <a:pt x="0" y="0"/>
                </a:lnTo>
                <a:lnTo>
                  <a:pt x="0" y="6553200"/>
                </a:lnTo>
                <a:lnTo>
                  <a:pt x="11430000" y="6553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523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 spc="-114"/>
              <a:t>Understanding</a:t>
            </a:r>
            <a:r>
              <a:rPr dirty="0" spc="-420"/>
              <a:t> </a:t>
            </a:r>
            <a:r>
              <a:rPr dirty="0" spc="-90"/>
              <a:t>Cyber</a:t>
            </a:r>
            <a:r>
              <a:rPr dirty="0" spc="-425"/>
              <a:t> </a:t>
            </a:r>
            <a:r>
              <a:rPr dirty="0" spc="-20"/>
              <a:t>Risk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518654" y="1418589"/>
            <a:ext cx="3295015" cy="44608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40" b="1">
                <a:solidFill>
                  <a:srgbClr val="FFFFFF"/>
                </a:solidFill>
                <a:latin typeface="Tahoma"/>
                <a:cs typeface="Tahoma"/>
              </a:rPr>
              <a:t>What</a:t>
            </a:r>
            <a:r>
              <a:rPr dirty="0" sz="2000" spc="-2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30" b="1">
                <a:solidFill>
                  <a:srgbClr val="FFFFFF"/>
                </a:solidFill>
                <a:latin typeface="Tahoma"/>
                <a:cs typeface="Tahoma"/>
              </a:rPr>
              <a:t>is</a:t>
            </a:r>
            <a:r>
              <a:rPr dirty="0" sz="2000" spc="-21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45" b="1">
                <a:solidFill>
                  <a:srgbClr val="FFFFFF"/>
                </a:solidFill>
                <a:latin typeface="Tahoma"/>
                <a:cs typeface="Tahoma"/>
              </a:rPr>
              <a:t>Cyber</a:t>
            </a:r>
            <a:r>
              <a:rPr dirty="0" sz="2000" spc="-22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20" b="1">
                <a:solidFill>
                  <a:srgbClr val="FFFFFF"/>
                </a:solidFill>
                <a:latin typeface="Tahoma"/>
                <a:cs typeface="Tahoma"/>
              </a:rPr>
              <a:t>Risk?</a:t>
            </a:r>
            <a:endParaRPr sz="2000">
              <a:latin typeface="Tahoma"/>
              <a:cs typeface="Tahoma"/>
            </a:endParaRPr>
          </a:p>
          <a:p>
            <a:pPr marL="12700" marR="106045">
              <a:lnSpc>
                <a:spcPct val="133400"/>
              </a:lnSpc>
              <a:spcBef>
                <a:spcPts val="1160"/>
              </a:spcBef>
            </a:pP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Cyber</a:t>
            </a:r>
            <a:r>
              <a:rPr dirty="0" sz="1350" spc="-17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risk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represents</a:t>
            </a:r>
            <a:r>
              <a:rPr dirty="0" sz="1350" spc="-16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the</a:t>
            </a:r>
            <a:r>
              <a:rPr dirty="0" sz="1350" spc="-1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potential</a:t>
            </a:r>
            <a:r>
              <a:rPr dirty="0" sz="1350" spc="-16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for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unauthorised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access,</a:t>
            </a:r>
            <a:r>
              <a:rPr dirty="0" sz="1350" spc="-1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exploitation,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or </a:t>
            </a:r>
            <a:r>
              <a:rPr dirty="0" sz="1350" spc="-105">
                <a:solidFill>
                  <a:srgbClr val="E4DFDF"/>
                </a:solidFill>
                <a:latin typeface="Verdana"/>
                <a:cs typeface="Verdana"/>
              </a:rPr>
              <a:t>damage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to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digital 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systems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networks.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In</a:t>
            </a:r>
            <a:r>
              <a:rPr dirty="0" sz="1350" spc="-1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today's</a:t>
            </a:r>
            <a:r>
              <a:rPr dirty="0" sz="1350" spc="-10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interconnected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world,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organisations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face</a:t>
            </a:r>
            <a:r>
              <a:rPr dirty="0" sz="1350" spc="-1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constant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threats</a:t>
            </a:r>
            <a:r>
              <a:rPr dirty="0" sz="1350" spc="-1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from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malware,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phishing</a:t>
            </a:r>
            <a:r>
              <a:rPr dirty="0" sz="1350" spc="-10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attacks,</a:t>
            </a:r>
            <a:r>
              <a:rPr dirty="0" sz="1350" spc="-1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ransomware,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data</a:t>
            </a:r>
            <a:r>
              <a:rPr dirty="0" sz="1350" spc="-1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breaches.</a:t>
            </a: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2500"/>
              </a:lnSpc>
              <a:spcBef>
                <a:spcPts val="1205"/>
              </a:spcBef>
            </a:pPr>
            <a:r>
              <a:rPr dirty="0" sz="1350" spc="-30">
                <a:solidFill>
                  <a:srgbClr val="E4DFDF"/>
                </a:solidFill>
                <a:latin typeface="Verdana"/>
                <a:cs typeface="Verdana"/>
              </a:rPr>
              <a:t>The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financial</a:t>
            </a:r>
            <a:r>
              <a:rPr dirty="0" sz="1350" spc="-12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impact</a:t>
            </a:r>
            <a:r>
              <a:rPr dirty="0" sz="1350" spc="-12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4DFDF"/>
                </a:solidFill>
                <a:latin typeface="Verdana"/>
                <a:cs typeface="Verdana"/>
              </a:rPr>
              <a:t>of</a:t>
            </a:r>
            <a:r>
              <a:rPr dirty="0" sz="1350" spc="-1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cyber</a:t>
            </a:r>
            <a:r>
              <a:rPr dirty="0" sz="1350" spc="-12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attacks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continues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to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rise,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with</a:t>
            </a:r>
            <a:r>
              <a:rPr dirty="0" sz="1350" spc="-1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average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breach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costs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exceeding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millions.</a:t>
            </a:r>
            <a:r>
              <a:rPr dirty="0" sz="1350" spc="-1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Beyond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monetary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loss,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organisations</a:t>
            </a:r>
            <a:r>
              <a:rPr dirty="0" sz="1350" spc="-12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risk 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reputational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E4DFDF"/>
                </a:solidFill>
                <a:latin typeface="Verdana"/>
                <a:cs typeface="Verdana"/>
              </a:rPr>
              <a:t>damage,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regulatory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penalties,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8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operational</a:t>
            </a:r>
            <a:r>
              <a:rPr dirty="0" sz="1350" spc="-1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disruption</a:t>
            </a:r>
            <a:r>
              <a:rPr dirty="0" sz="1350" spc="-1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when</a:t>
            </a:r>
            <a:r>
              <a:rPr dirty="0" sz="1350" spc="-1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security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is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compromised.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856955"/>
            <a:ext cx="6504432" cy="36283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5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6231" y="1132078"/>
            <a:ext cx="3942079" cy="5359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50"/>
              <a:t>Problem</a:t>
            </a:r>
            <a:r>
              <a:rPr dirty="0" spc="-420"/>
              <a:t> </a:t>
            </a:r>
            <a:r>
              <a:rPr dirty="0" spc="-35"/>
              <a:t>Statement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6231" y="5014671"/>
            <a:ext cx="1005459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Existing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solutions lack</a:t>
            </a:r>
            <a:r>
              <a:rPr dirty="0" sz="1350" spc="-10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agility,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real-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time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monitoring,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and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E3DFDE"/>
                </a:solidFill>
                <a:latin typeface="Verdana"/>
                <a:cs typeface="Verdana"/>
              </a:rPr>
              <a:t>automated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risk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scoring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capabilities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needed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for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E3DFDE"/>
                </a:solidFill>
                <a:latin typeface="Verdana"/>
                <a:cs typeface="Verdana"/>
              </a:rPr>
              <a:t>modern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security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3DFDE"/>
                </a:solidFill>
                <a:latin typeface="Verdana"/>
                <a:cs typeface="Verdana"/>
              </a:rPr>
              <a:t>operations.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599440" y="2026984"/>
            <a:ext cx="3295650" cy="2790825"/>
            <a:chOff x="599440" y="2026984"/>
            <a:chExt cx="3295650" cy="2790825"/>
          </a:xfrm>
        </p:grpSpPr>
        <p:sp>
          <p:nvSpPr>
            <p:cNvPr id="6" name="object 6" descr=""/>
            <p:cNvSpPr/>
            <p:nvPr/>
          </p:nvSpPr>
          <p:spPr>
            <a:xfrm>
              <a:off x="604202" y="2031746"/>
              <a:ext cx="3286125" cy="2781300"/>
            </a:xfrm>
            <a:custGeom>
              <a:avLst/>
              <a:gdLst/>
              <a:ahLst/>
              <a:cxnLst/>
              <a:rect l="l" t="t" r="r" b="b"/>
              <a:pathLst>
                <a:path w="3286125" h="2781300">
                  <a:moveTo>
                    <a:pt x="3234499" y="0"/>
                  </a:moveTo>
                  <a:lnTo>
                    <a:pt x="51612" y="0"/>
                  </a:lnTo>
                  <a:lnTo>
                    <a:pt x="18745" y="13588"/>
                  </a:lnTo>
                  <a:lnTo>
                    <a:pt x="0" y="51562"/>
                  </a:lnTo>
                  <a:lnTo>
                    <a:pt x="0" y="2729611"/>
                  </a:lnTo>
                  <a:lnTo>
                    <a:pt x="13614" y="2762504"/>
                  </a:lnTo>
                  <a:lnTo>
                    <a:pt x="48018" y="2780919"/>
                  </a:lnTo>
                  <a:lnTo>
                    <a:pt x="51612" y="2781173"/>
                  </a:lnTo>
                  <a:lnTo>
                    <a:pt x="3234499" y="2781173"/>
                  </a:lnTo>
                  <a:lnTo>
                    <a:pt x="3238055" y="2780919"/>
                  </a:lnTo>
                  <a:lnTo>
                    <a:pt x="3267392" y="2767584"/>
                  </a:lnTo>
                  <a:lnTo>
                    <a:pt x="3286061" y="2729611"/>
                  </a:lnTo>
                  <a:lnTo>
                    <a:pt x="3286061" y="51562"/>
                  </a:lnTo>
                  <a:lnTo>
                    <a:pt x="3272472" y="18669"/>
                  </a:lnTo>
                  <a:lnTo>
                    <a:pt x="3234499" y="0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04202" y="2031746"/>
              <a:ext cx="3286125" cy="2781300"/>
            </a:xfrm>
            <a:custGeom>
              <a:avLst/>
              <a:gdLst/>
              <a:ahLst/>
              <a:cxnLst/>
              <a:rect l="l" t="t" r="r" b="b"/>
              <a:pathLst>
                <a:path w="3286125" h="2781300">
                  <a:moveTo>
                    <a:pt x="0" y="2725928"/>
                  </a:moveTo>
                  <a:lnTo>
                    <a:pt x="0" y="55117"/>
                  </a:lnTo>
                  <a:lnTo>
                    <a:pt x="0" y="51562"/>
                  </a:lnTo>
                  <a:lnTo>
                    <a:pt x="355" y="48005"/>
                  </a:lnTo>
                  <a:lnTo>
                    <a:pt x="1054" y="44450"/>
                  </a:lnTo>
                  <a:lnTo>
                    <a:pt x="1765" y="40894"/>
                  </a:lnTo>
                  <a:lnTo>
                    <a:pt x="2819" y="37337"/>
                  </a:lnTo>
                  <a:lnTo>
                    <a:pt x="4203" y="34036"/>
                  </a:lnTo>
                  <a:lnTo>
                    <a:pt x="5587" y="30734"/>
                  </a:lnTo>
                  <a:lnTo>
                    <a:pt x="7289" y="27559"/>
                  </a:lnTo>
                  <a:lnTo>
                    <a:pt x="9309" y="24511"/>
                  </a:lnTo>
                  <a:lnTo>
                    <a:pt x="11328" y="21462"/>
                  </a:lnTo>
                  <a:lnTo>
                    <a:pt x="51612" y="0"/>
                  </a:lnTo>
                  <a:lnTo>
                    <a:pt x="55244" y="0"/>
                  </a:lnTo>
                  <a:lnTo>
                    <a:pt x="3230816" y="0"/>
                  </a:lnTo>
                  <a:lnTo>
                    <a:pt x="3234499" y="0"/>
                  </a:lnTo>
                  <a:lnTo>
                    <a:pt x="3238055" y="253"/>
                  </a:lnTo>
                  <a:lnTo>
                    <a:pt x="3241611" y="1015"/>
                  </a:lnTo>
                  <a:lnTo>
                    <a:pt x="3245167" y="1650"/>
                  </a:lnTo>
                  <a:lnTo>
                    <a:pt x="3276790" y="24511"/>
                  </a:lnTo>
                  <a:lnTo>
                    <a:pt x="3286061" y="55117"/>
                  </a:lnTo>
                  <a:lnTo>
                    <a:pt x="3286061" y="2725928"/>
                  </a:lnTo>
                  <a:lnTo>
                    <a:pt x="3286061" y="2729611"/>
                  </a:lnTo>
                  <a:lnTo>
                    <a:pt x="3285807" y="2733167"/>
                  </a:lnTo>
                  <a:lnTo>
                    <a:pt x="3285045" y="2736723"/>
                  </a:lnTo>
                  <a:lnTo>
                    <a:pt x="3284410" y="2740279"/>
                  </a:lnTo>
                  <a:lnTo>
                    <a:pt x="3283267" y="2743835"/>
                  </a:lnTo>
                  <a:lnTo>
                    <a:pt x="3281870" y="2747137"/>
                  </a:lnTo>
                  <a:lnTo>
                    <a:pt x="3280473" y="2750439"/>
                  </a:lnTo>
                  <a:lnTo>
                    <a:pt x="3278822" y="2753614"/>
                  </a:lnTo>
                  <a:lnTo>
                    <a:pt x="3276790" y="2756662"/>
                  </a:lnTo>
                  <a:lnTo>
                    <a:pt x="3274758" y="2759710"/>
                  </a:lnTo>
                  <a:lnTo>
                    <a:pt x="3252025" y="2776982"/>
                  </a:lnTo>
                  <a:lnTo>
                    <a:pt x="3248723" y="2778379"/>
                  </a:lnTo>
                  <a:lnTo>
                    <a:pt x="3245167" y="2779522"/>
                  </a:lnTo>
                  <a:lnTo>
                    <a:pt x="3241611" y="2780157"/>
                  </a:lnTo>
                  <a:lnTo>
                    <a:pt x="3238055" y="2780919"/>
                  </a:lnTo>
                  <a:lnTo>
                    <a:pt x="3234499" y="2781173"/>
                  </a:lnTo>
                  <a:lnTo>
                    <a:pt x="3230816" y="2781173"/>
                  </a:lnTo>
                  <a:lnTo>
                    <a:pt x="55244" y="2781173"/>
                  </a:lnTo>
                  <a:lnTo>
                    <a:pt x="51612" y="2781173"/>
                  </a:lnTo>
                  <a:lnTo>
                    <a:pt x="48018" y="2780919"/>
                  </a:lnTo>
                  <a:lnTo>
                    <a:pt x="44462" y="2780157"/>
                  </a:lnTo>
                  <a:lnTo>
                    <a:pt x="40906" y="2779522"/>
                  </a:lnTo>
                  <a:lnTo>
                    <a:pt x="37452" y="2778379"/>
                  </a:lnTo>
                  <a:lnTo>
                    <a:pt x="34099" y="2776982"/>
                  </a:lnTo>
                  <a:lnTo>
                    <a:pt x="30746" y="2775585"/>
                  </a:lnTo>
                  <a:lnTo>
                    <a:pt x="4203" y="2747137"/>
                  </a:lnTo>
                  <a:lnTo>
                    <a:pt x="0" y="2729611"/>
                  </a:lnTo>
                  <a:lnTo>
                    <a:pt x="0" y="2725928"/>
                  </a:lnTo>
                  <a:close/>
                </a:path>
              </a:pathLst>
            </a:custGeom>
            <a:ln w="9523">
              <a:solidFill>
                <a:srgbClr val="2917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80414" y="220789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95" y="0"/>
                  </a:moveTo>
                  <a:lnTo>
                    <a:pt x="248754" y="0"/>
                  </a:lnTo>
                  <a:lnTo>
                    <a:pt x="215265" y="3301"/>
                  </a:lnTo>
                  <a:lnTo>
                    <a:pt x="166535" y="16383"/>
                  </a:lnTo>
                  <a:lnTo>
                    <a:pt x="121297" y="38608"/>
                  </a:lnTo>
                  <a:lnTo>
                    <a:pt x="81279" y="69341"/>
                  </a:lnTo>
                  <a:lnTo>
                    <a:pt x="48018" y="107314"/>
                  </a:lnTo>
                  <a:lnTo>
                    <a:pt x="22796" y="151002"/>
                  </a:lnTo>
                  <a:lnTo>
                    <a:pt x="6578" y="198754"/>
                  </a:lnTo>
                  <a:lnTo>
                    <a:pt x="0" y="248792"/>
                  </a:lnTo>
                  <a:lnTo>
                    <a:pt x="0" y="265556"/>
                  </a:lnTo>
                  <a:lnTo>
                    <a:pt x="16344" y="347852"/>
                  </a:lnTo>
                  <a:lnTo>
                    <a:pt x="38658" y="393064"/>
                  </a:lnTo>
                  <a:lnTo>
                    <a:pt x="69367" y="433070"/>
                  </a:lnTo>
                  <a:lnTo>
                    <a:pt x="107289" y="466343"/>
                  </a:lnTo>
                  <a:lnTo>
                    <a:pt x="150977" y="491489"/>
                  </a:lnTo>
                  <a:lnTo>
                    <a:pt x="198742" y="507746"/>
                  </a:lnTo>
                  <a:lnTo>
                    <a:pt x="240347" y="513968"/>
                  </a:lnTo>
                  <a:lnTo>
                    <a:pt x="248754" y="514350"/>
                  </a:lnTo>
                  <a:lnTo>
                    <a:pt x="265595" y="514350"/>
                  </a:lnTo>
                  <a:lnTo>
                    <a:pt x="347802" y="497966"/>
                  </a:lnTo>
                  <a:lnTo>
                    <a:pt x="393052" y="475741"/>
                  </a:lnTo>
                  <a:lnTo>
                    <a:pt x="433069" y="445008"/>
                  </a:lnTo>
                  <a:lnTo>
                    <a:pt x="466331" y="407035"/>
                  </a:lnTo>
                  <a:lnTo>
                    <a:pt x="491490" y="363347"/>
                  </a:lnTo>
                  <a:lnTo>
                    <a:pt x="507746" y="315595"/>
                  </a:lnTo>
                  <a:lnTo>
                    <a:pt x="514350" y="265556"/>
                  </a:lnTo>
                  <a:lnTo>
                    <a:pt x="514350" y="248792"/>
                  </a:lnTo>
                  <a:lnTo>
                    <a:pt x="497966" y="166497"/>
                  </a:lnTo>
                  <a:lnTo>
                    <a:pt x="475691" y="121285"/>
                  </a:lnTo>
                  <a:lnTo>
                    <a:pt x="444982" y="81279"/>
                  </a:lnTo>
                  <a:lnTo>
                    <a:pt x="407060" y="48005"/>
                  </a:lnTo>
                  <a:lnTo>
                    <a:pt x="363372" y="22860"/>
                  </a:lnTo>
                  <a:lnTo>
                    <a:pt x="315607" y="6603"/>
                  </a:lnTo>
                  <a:lnTo>
                    <a:pt x="265595" y="0"/>
                  </a:lnTo>
                  <a:close/>
                </a:path>
              </a:pathLst>
            </a:custGeom>
            <a:solidFill>
              <a:srgbClr val="2A0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013" y="2345601"/>
              <a:ext cx="237985" cy="241642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767587" y="2878658"/>
            <a:ext cx="2804160" cy="14446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55" b="1">
                <a:solidFill>
                  <a:srgbClr val="E3DFDE"/>
                </a:solidFill>
                <a:latin typeface="Tahoma"/>
                <a:cs typeface="Tahoma"/>
              </a:rPr>
              <a:t>Manual</a:t>
            </a:r>
            <a:r>
              <a:rPr dirty="0" sz="1650" spc="-160" b="1">
                <a:solidFill>
                  <a:srgbClr val="E3DFDE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3DFDE"/>
                </a:solidFill>
                <a:latin typeface="Tahoma"/>
                <a:cs typeface="Tahoma"/>
              </a:rPr>
              <a:t>Analysis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800"/>
              </a:lnSpc>
              <a:spcBef>
                <a:spcPts val="575"/>
              </a:spcBef>
            </a:pP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Traditional</a:t>
            </a:r>
            <a:r>
              <a:rPr dirty="0" sz="1350" spc="-1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risk</a:t>
            </a:r>
            <a:r>
              <a:rPr dirty="0" sz="1350" spc="-1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assessment</a:t>
            </a:r>
            <a:r>
              <a:rPr dirty="0" sz="1350" spc="-14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requires </a:t>
            </a:r>
            <a:r>
              <a:rPr dirty="0" sz="1350" spc="-55">
                <a:solidFill>
                  <a:srgbClr val="E3DFDE"/>
                </a:solidFill>
                <a:latin typeface="Verdana"/>
                <a:cs typeface="Verdana"/>
              </a:rPr>
              <a:t>extensive</a:t>
            </a:r>
            <a:r>
              <a:rPr dirty="0" sz="1350" spc="-13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3DFDE"/>
                </a:solidFill>
                <a:latin typeface="Verdana"/>
                <a:cs typeface="Verdana"/>
              </a:rPr>
              <a:t>manual</a:t>
            </a:r>
            <a:r>
              <a:rPr dirty="0" sz="1350" spc="-12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3DFDE"/>
                </a:solidFill>
                <a:latin typeface="Verdana"/>
                <a:cs typeface="Verdana"/>
              </a:rPr>
              <a:t>effort,</a:t>
            </a:r>
            <a:r>
              <a:rPr dirty="0" sz="1350" spc="-13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3DFDE"/>
                </a:solidFill>
                <a:latin typeface="Verdana"/>
                <a:cs typeface="Verdana"/>
              </a:rPr>
              <a:t>time- 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consuming</a:t>
            </a:r>
            <a:r>
              <a:rPr dirty="0" sz="1350" spc="-1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3DFDE"/>
                </a:solidFill>
                <a:latin typeface="Verdana"/>
                <a:cs typeface="Verdana"/>
              </a:rPr>
              <a:t>scans,</a:t>
            </a:r>
            <a:r>
              <a:rPr dirty="0" sz="1350" spc="-1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3DFDE"/>
                </a:solidFill>
                <a:latin typeface="Verdana"/>
                <a:cs typeface="Verdana"/>
              </a:rPr>
              <a:t>and</a:t>
            </a:r>
            <a:r>
              <a:rPr dirty="0" sz="1350" spc="-13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expertise</a:t>
            </a:r>
            <a:r>
              <a:rPr dirty="0" sz="1350" spc="-14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3DFDE"/>
                </a:solidFill>
                <a:latin typeface="Verdana"/>
                <a:cs typeface="Verdana"/>
              </a:rPr>
              <a:t>to 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interpret</a:t>
            </a:r>
            <a:r>
              <a:rPr dirty="0" sz="1350" spc="-12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results</a:t>
            </a:r>
            <a:r>
              <a:rPr dirty="0" sz="1350" spc="-12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accurately.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4066476" y="2026983"/>
            <a:ext cx="3295650" cy="2790825"/>
            <a:chOff x="4066476" y="2026983"/>
            <a:chExt cx="3295650" cy="2790825"/>
          </a:xfrm>
        </p:grpSpPr>
        <p:sp>
          <p:nvSpPr>
            <p:cNvPr id="12" name="object 12" descr=""/>
            <p:cNvSpPr/>
            <p:nvPr/>
          </p:nvSpPr>
          <p:spPr>
            <a:xfrm>
              <a:off x="4071239" y="2031746"/>
              <a:ext cx="3286125" cy="2781300"/>
            </a:xfrm>
            <a:custGeom>
              <a:avLst/>
              <a:gdLst/>
              <a:ahLst/>
              <a:cxnLst/>
              <a:rect l="l" t="t" r="r" b="b"/>
              <a:pathLst>
                <a:path w="3286125" h="2781300">
                  <a:moveTo>
                    <a:pt x="3234563" y="0"/>
                  </a:moveTo>
                  <a:lnTo>
                    <a:pt x="51688" y="0"/>
                  </a:lnTo>
                  <a:lnTo>
                    <a:pt x="18796" y="13588"/>
                  </a:lnTo>
                  <a:lnTo>
                    <a:pt x="0" y="51562"/>
                  </a:lnTo>
                  <a:lnTo>
                    <a:pt x="0" y="2729611"/>
                  </a:lnTo>
                  <a:lnTo>
                    <a:pt x="13715" y="2762504"/>
                  </a:lnTo>
                  <a:lnTo>
                    <a:pt x="48133" y="2780919"/>
                  </a:lnTo>
                  <a:lnTo>
                    <a:pt x="51688" y="2781173"/>
                  </a:lnTo>
                  <a:lnTo>
                    <a:pt x="3234563" y="2781173"/>
                  </a:lnTo>
                  <a:lnTo>
                    <a:pt x="3238118" y="2780919"/>
                  </a:lnTo>
                  <a:lnTo>
                    <a:pt x="3267456" y="2767584"/>
                  </a:lnTo>
                  <a:lnTo>
                    <a:pt x="3286125" y="2729611"/>
                  </a:lnTo>
                  <a:lnTo>
                    <a:pt x="3286125" y="51562"/>
                  </a:lnTo>
                  <a:lnTo>
                    <a:pt x="3272536" y="18669"/>
                  </a:lnTo>
                  <a:lnTo>
                    <a:pt x="3234563" y="0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071239" y="2031746"/>
              <a:ext cx="3286125" cy="2781300"/>
            </a:xfrm>
            <a:custGeom>
              <a:avLst/>
              <a:gdLst/>
              <a:ahLst/>
              <a:cxnLst/>
              <a:rect l="l" t="t" r="r" b="b"/>
              <a:pathLst>
                <a:path w="3286125" h="2781300">
                  <a:moveTo>
                    <a:pt x="0" y="2725928"/>
                  </a:moveTo>
                  <a:lnTo>
                    <a:pt x="0" y="55117"/>
                  </a:lnTo>
                  <a:lnTo>
                    <a:pt x="0" y="51562"/>
                  </a:lnTo>
                  <a:lnTo>
                    <a:pt x="381" y="48005"/>
                  </a:lnTo>
                  <a:lnTo>
                    <a:pt x="1143" y="44450"/>
                  </a:lnTo>
                  <a:lnTo>
                    <a:pt x="1777" y="40894"/>
                  </a:lnTo>
                  <a:lnTo>
                    <a:pt x="2921" y="37337"/>
                  </a:lnTo>
                  <a:lnTo>
                    <a:pt x="4318" y="34036"/>
                  </a:lnTo>
                  <a:lnTo>
                    <a:pt x="5714" y="30734"/>
                  </a:lnTo>
                  <a:lnTo>
                    <a:pt x="16256" y="16128"/>
                  </a:lnTo>
                  <a:lnTo>
                    <a:pt x="18796" y="13588"/>
                  </a:lnTo>
                  <a:lnTo>
                    <a:pt x="51688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63" y="0"/>
                  </a:lnTo>
                  <a:lnTo>
                    <a:pt x="3238118" y="253"/>
                  </a:lnTo>
                  <a:lnTo>
                    <a:pt x="3241675" y="1015"/>
                  </a:lnTo>
                  <a:lnTo>
                    <a:pt x="3245231" y="1650"/>
                  </a:lnTo>
                  <a:lnTo>
                    <a:pt x="3261614" y="9271"/>
                  </a:lnTo>
                  <a:lnTo>
                    <a:pt x="3264662" y="11302"/>
                  </a:lnTo>
                  <a:lnTo>
                    <a:pt x="3281934" y="34036"/>
                  </a:lnTo>
                  <a:lnTo>
                    <a:pt x="3283331" y="37337"/>
                  </a:lnTo>
                  <a:lnTo>
                    <a:pt x="3284474" y="40894"/>
                  </a:lnTo>
                  <a:lnTo>
                    <a:pt x="3285109" y="44450"/>
                  </a:lnTo>
                  <a:lnTo>
                    <a:pt x="3285870" y="48005"/>
                  </a:lnTo>
                  <a:lnTo>
                    <a:pt x="3286125" y="51562"/>
                  </a:lnTo>
                  <a:lnTo>
                    <a:pt x="3286125" y="55117"/>
                  </a:lnTo>
                  <a:lnTo>
                    <a:pt x="3286125" y="2725928"/>
                  </a:lnTo>
                  <a:lnTo>
                    <a:pt x="3286125" y="2729611"/>
                  </a:lnTo>
                  <a:lnTo>
                    <a:pt x="3285870" y="2733167"/>
                  </a:lnTo>
                  <a:lnTo>
                    <a:pt x="3285109" y="2736723"/>
                  </a:lnTo>
                  <a:lnTo>
                    <a:pt x="3284474" y="2740279"/>
                  </a:lnTo>
                  <a:lnTo>
                    <a:pt x="3283331" y="2743835"/>
                  </a:lnTo>
                  <a:lnTo>
                    <a:pt x="3281934" y="2747137"/>
                  </a:lnTo>
                  <a:lnTo>
                    <a:pt x="3280537" y="2750439"/>
                  </a:lnTo>
                  <a:lnTo>
                    <a:pt x="3252089" y="2776982"/>
                  </a:lnTo>
                  <a:lnTo>
                    <a:pt x="3248787" y="2778379"/>
                  </a:lnTo>
                  <a:lnTo>
                    <a:pt x="3245231" y="2779522"/>
                  </a:lnTo>
                  <a:lnTo>
                    <a:pt x="3241675" y="2780157"/>
                  </a:lnTo>
                  <a:lnTo>
                    <a:pt x="3238118" y="2780919"/>
                  </a:lnTo>
                  <a:lnTo>
                    <a:pt x="3234563" y="2781173"/>
                  </a:lnTo>
                  <a:lnTo>
                    <a:pt x="3230880" y="2781173"/>
                  </a:lnTo>
                  <a:lnTo>
                    <a:pt x="55245" y="2781173"/>
                  </a:lnTo>
                  <a:lnTo>
                    <a:pt x="51688" y="2781173"/>
                  </a:lnTo>
                  <a:lnTo>
                    <a:pt x="48133" y="2780919"/>
                  </a:lnTo>
                  <a:lnTo>
                    <a:pt x="44576" y="2780157"/>
                  </a:lnTo>
                  <a:lnTo>
                    <a:pt x="41021" y="2779522"/>
                  </a:lnTo>
                  <a:lnTo>
                    <a:pt x="37464" y="2778379"/>
                  </a:lnTo>
                  <a:lnTo>
                    <a:pt x="34162" y="2776982"/>
                  </a:lnTo>
                  <a:lnTo>
                    <a:pt x="30861" y="2775585"/>
                  </a:lnTo>
                  <a:lnTo>
                    <a:pt x="27686" y="2773934"/>
                  </a:lnTo>
                  <a:lnTo>
                    <a:pt x="24637" y="2771902"/>
                  </a:lnTo>
                  <a:lnTo>
                    <a:pt x="21589" y="2769870"/>
                  </a:lnTo>
                  <a:lnTo>
                    <a:pt x="4318" y="2747137"/>
                  </a:lnTo>
                  <a:lnTo>
                    <a:pt x="2921" y="2743835"/>
                  </a:lnTo>
                  <a:lnTo>
                    <a:pt x="1777" y="2740279"/>
                  </a:lnTo>
                  <a:lnTo>
                    <a:pt x="1143" y="2736723"/>
                  </a:lnTo>
                  <a:lnTo>
                    <a:pt x="381" y="2733167"/>
                  </a:lnTo>
                  <a:lnTo>
                    <a:pt x="0" y="2729611"/>
                  </a:lnTo>
                  <a:lnTo>
                    <a:pt x="0" y="2725928"/>
                  </a:lnTo>
                  <a:close/>
                </a:path>
              </a:pathLst>
            </a:custGeom>
            <a:ln w="9523">
              <a:solidFill>
                <a:srgbClr val="2917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247515" y="220789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57" y="0"/>
                  </a:moveTo>
                  <a:lnTo>
                    <a:pt x="248793" y="0"/>
                  </a:lnTo>
                  <a:lnTo>
                    <a:pt x="215264" y="3301"/>
                  </a:lnTo>
                  <a:lnTo>
                    <a:pt x="166497" y="16383"/>
                  </a:lnTo>
                  <a:lnTo>
                    <a:pt x="121285" y="38608"/>
                  </a:lnTo>
                  <a:lnTo>
                    <a:pt x="81280" y="69341"/>
                  </a:lnTo>
                  <a:lnTo>
                    <a:pt x="48006" y="107314"/>
                  </a:lnTo>
                  <a:lnTo>
                    <a:pt x="22860" y="151002"/>
                  </a:lnTo>
                  <a:lnTo>
                    <a:pt x="6604" y="198754"/>
                  </a:lnTo>
                  <a:lnTo>
                    <a:pt x="0" y="248792"/>
                  </a:lnTo>
                  <a:lnTo>
                    <a:pt x="0" y="265556"/>
                  </a:lnTo>
                  <a:lnTo>
                    <a:pt x="16383" y="347852"/>
                  </a:lnTo>
                  <a:lnTo>
                    <a:pt x="38608" y="393064"/>
                  </a:lnTo>
                  <a:lnTo>
                    <a:pt x="69342" y="433070"/>
                  </a:lnTo>
                  <a:lnTo>
                    <a:pt x="107314" y="466343"/>
                  </a:lnTo>
                  <a:lnTo>
                    <a:pt x="151002" y="491489"/>
                  </a:lnTo>
                  <a:lnTo>
                    <a:pt x="198755" y="507746"/>
                  </a:lnTo>
                  <a:lnTo>
                    <a:pt x="240411" y="513968"/>
                  </a:lnTo>
                  <a:lnTo>
                    <a:pt x="248793" y="514350"/>
                  </a:lnTo>
                  <a:lnTo>
                    <a:pt x="265557" y="514350"/>
                  </a:lnTo>
                  <a:lnTo>
                    <a:pt x="347852" y="497966"/>
                  </a:lnTo>
                  <a:lnTo>
                    <a:pt x="393064" y="475741"/>
                  </a:lnTo>
                  <a:lnTo>
                    <a:pt x="433070" y="445008"/>
                  </a:lnTo>
                  <a:lnTo>
                    <a:pt x="466344" y="407035"/>
                  </a:lnTo>
                  <a:lnTo>
                    <a:pt x="491489" y="363347"/>
                  </a:lnTo>
                  <a:lnTo>
                    <a:pt x="507746" y="315595"/>
                  </a:lnTo>
                  <a:lnTo>
                    <a:pt x="514350" y="265556"/>
                  </a:lnTo>
                  <a:lnTo>
                    <a:pt x="514350" y="248792"/>
                  </a:lnTo>
                  <a:lnTo>
                    <a:pt x="497967" y="166497"/>
                  </a:lnTo>
                  <a:lnTo>
                    <a:pt x="475742" y="121285"/>
                  </a:lnTo>
                  <a:lnTo>
                    <a:pt x="445008" y="81279"/>
                  </a:lnTo>
                  <a:lnTo>
                    <a:pt x="407035" y="48005"/>
                  </a:lnTo>
                  <a:lnTo>
                    <a:pt x="363347" y="22860"/>
                  </a:lnTo>
                  <a:lnTo>
                    <a:pt x="315595" y="6603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2A0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8231" y="2345410"/>
              <a:ext cx="235788" cy="242087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4235322" y="2878658"/>
            <a:ext cx="1811020" cy="27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75" b="1">
                <a:solidFill>
                  <a:srgbClr val="E3DFDE"/>
                </a:solidFill>
                <a:latin typeface="Tahoma"/>
                <a:cs typeface="Tahoma"/>
              </a:rPr>
              <a:t>Fragmented</a:t>
            </a:r>
            <a:r>
              <a:rPr dirty="0" sz="1650" spc="-114" b="1">
                <a:solidFill>
                  <a:srgbClr val="E3DFDE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3DFDE"/>
                </a:solidFill>
                <a:latin typeface="Tahoma"/>
                <a:cs typeface="Tahoma"/>
              </a:rPr>
              <a:t>Tools</a:t>
            </a:r>
            <a:endParaRPr sz="1650">
              <a:latin typeface="Tahoma"/>
              <a:cs typeface="Tahom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4257547" y="3324098"/>
            <a:ext cx="2879090" cy="165735"/>
            <a:chOff x="4257547" y="3324098"/>
            <a:chExt cx="2879090" cy="165735"/>
          </a:xfrm>
        </p:grpSpPr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7547" y="3327400"/>
              <a:ext cx="1138681" cy="16217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60110" y="3358388"/>
              <a:ext cx="246634" cy="99187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773165" y="3324098"/>
              <a:ext cx="601345" cy="165735"/>
            </a:xfrm>
            <a:custGeom>
              <a:avLst/>
              <a:gdLst/>
              <a:ahLst/>
              <a:cxnLst/>
              <a:rect l="l" t="t" r="r" b="b"/>
              <a:pathLst>
                <a:path w="601345" h="165735">
                  <a:moveTo>
                    <a:pt x="14224" y="36830"/>
                  </a:moveTo>
                  <a:lnTo>
                    <a:pt x="0" y="36830"/>
                  </a:lnTo>
                  <a:lnTo>
                    <a:pt x="0" y="130810"/>
                  </a:lnTo>
                  <a:lnTo>
                    <a:pt x="14224" y="130810"/>
                  </a:lnTo>
                  <a:lnTo>
                    <a:pt x="14224" y="60706"/>
                  </a:lnTo>
                  <a:lnTo>
                    <a:pt x="18161" y="57404"/>
                  </a:lnTo>
                  <a:lnTo>
                    <a:pt x="22098" y="54610"/>
                  </a:lnTo>
                  <a:lnTo>
                    <a:pt x="26139" y="52450"/>
                  </a:lnTo>
                  <a:lnTo>
                    <a:pt x="29845" y="50418"/>
                  </a:lnTo>
                  <a:lnTo>
                    <a:pt x="33782" y="49275"/>
                  </a:lnTo>
                  <a:lnTo>
                    <a:pt x="65171" y="49275"/>
                  </a:lnTo>
                  <a:lnTo>
                    <a:pt x="64368" y="47371"/>
                  </a:lnTo>
                  <a:lnTo>
                    <a:pt x="14224" y="47371"/>
                  </a:lnTo>
                  <a:lnTo>
                    <a:pt x="14224" y="36830"/>
                  </a:lnTo>
                  <a:close/>
                </a:path>
                <a:path w="601345" h="165735">
                  <a:moveTo>
                    <a:pt x="65171" y="49275"/>
                  </a:moveTo>
                  <a:lnTo>
                    <a:pt x="41783" y="49275"/>
                  </a:lnTo>
                  <a:lnTo>
                    <a:pt x="44831" y="49911"/>
                  </a:lnTo>
                  <a:lnTo>
                    <a:pt x="46989" y="51181"/>
                  </a:lnTo>
                  <a:lnTo>
                    <a:pt x="54610" y="130810"/>
                  </a:lnTo>
                  <a:lnTo>
                    <a:pt x="68834" y="130810"/>
                  </a:lnTo>
                  <a:lnTo>
                    <a:pt x="68707" y="65659"/>
                  </a:lnTo>
                  <a:lnTo>
                    <a:pt x="68325" y="61087"/>
                  </a:lnTo>
                  <a:lnTo>
                    <a:pt x="72262" y="57658"/>
                  </a:lnTo>
                  <a:lnTo>
                    <a:pt x="76257" y="54911"/>
                  </a:lnTo>
                  <a:lnTo>
                    <a:pt x="80263" y="52705"/>
                  </a:lnTo>
                  <a:lnTo>
                    <a:pt x="84200" y="50418"/>
                  </a:lnTo>
                  <a:lnTo>
                    <a:pt x="87361" y="49530"/>
                  </a:lnTo>
                  <a:lnTo>
                    <a:pt x="65278" y="49530"/>
                  </a:lnTo>
                  <a:lnTo>
                    <a:pt x="65171" y="49275"/>
                  </a:lnTo>
                  <a:close/>
                </a:path>
                <a:path w="601345" h="165735">
                  <a:moveTo>
                    <a:pt x="119794" y="49275"/>
                  </a:moveTo>
                  <a:lnTo>
                    <a:pt x="96266" y="49275"/>
                  </a:lnTo>
                  <a:lnTo>
                    <a:pt x="99441" y="49911"/>
                  </a:lnTo>
                  <a:lnTo>
                    <a:pt x="103759" y="52450"/>
                  </a:lnTo>
                  <a:lnTo>
                    <a:pt x="105410" y="54229"/>
                  </a:lnTo>
                  <a:lnTo>
                    <a:pt x="106553" y="56642"/>
                  </a:lnTo>
                  <a:lnTo>
                    <a:pt x="107632" y="58800"/>
                  </a:lnTo>
                  <a:lnTo>
                    <a:pt x="107696" y="58928"/>
                  </a:lnTo>
                  <a:lnTo>
                    <a:pt x="108338" y="61922"/>
                  </a:lnTo>
                  <a:lnTo>
                    <a:pt x="108712" y="65659"/>
                  </a:lnTo>
                  <a:lnTo>
                    <a:pt x="109220" y="73279"/>
                  </a:lnTo>
                  <a:lnTo>
                    <a:pt x="109220" y="130810"/>
                  </a:lnTo>
                  <a:lnTo>
                    <a:pt x="123444" y="130810"/>
                  </a:lnTo>
                  <a:lnTo>
                    <a:pt x="123409" y="69215"/>
                  </a:lnTo>
                  <a:lnTo>
                    <a:pt x="123218" y="65659"/>
                  </a:lnTo>
                  <a:lnTo>
                    <a:pt x="123122" y="63881"/>
                  </a:lnTo>
                  <a:lnTo>
                    <a:pt x="123017" y="61922"/>
                  </a:lnTo>
                  <a:lnTo>
                    <a:pt x="121745" y="54911"/>
                  </a:lnTo>
                  <a:lnTo>
                    <a:pt x="119882" y="49530"/>
                  </a:lnTo>
                  <a:lnTo>
                    <a:pt x="119794" y="49275"/>
                  </a:lnTo>
                  <a:close/>
                </a:path>
                <a:path w="601345" h="165735">
                  <a:moveTo>
                    <a:pt x="105537" y="34290"/>
                  </a:moveTo>
                  <a:lnTo>
                    <a:pt x="90805" y="34290"/>
                  </a:lnTo>
                  <a:lnTo>
                    <a:pt x="85160" y="35560"/>
                  </a:lnTo>
                  <a:lnTo>
                    <a:pt x="85477" y="35560"/>
                  </a:lnTo>
                  <a:lnTo>
                    <a:pt x="76326" y="40259"/>
                  </a:lnTo>
                  <a:lnTo>
                    <a:pt x="70993" y="44068"/>
                  </a:lnTo>
                  <a:lnTo>
                    <a:pt x="65278" y="49530"/>
                  </a:lnTo>
                  <a:lnTo>
                    <a:pt x="87361" y="49530"/>
                  </a:lnTo>
                  <a:lnTo>
                    <a:pt x="88264" y="49275"/>
                  </a:lnTo>
                  <a:lnTo>
                    <a:pt x="119794" y="49275"/>
                  </a:lnTo>
                  <a:lnTo>
                    <a:pt x="119639" y="48829"/>
                  </a:lnTo>
                  <a:lnTo>
                    <a:pt x="116712" y="43687"/>
                  </a:lnTo>
                  <a:lnTo>
                    <a:pt x="112395" y="37465"/>
                  </a:lnTo>
                  <a:lnTo>
                    <a:pt x="105537" y="34290"/>
                  </a:lnTo>
                  <a:close/>
                </a:path>
                <a:path w="601345" h="165735">
                  <a:moveTo>
                    <a:pt x="47371" y="34290"/>
                  </a:moveTo>
                  <a:lnTo>
                    <a:pt x="36703" y="34290"/>
                  </a:lnTo>
                  <a:lnTo>
                    <a:pt x="31481" y="35560"/>
                  </a:lnTo>
                  <a:lnTo>
                    <a:pt x="31757" y="35560"/>
                  </a:lnTo>
                  <a:lnTo>
                    <a:pt x="23113" y="40005"/>
                  </a:lnTo>
                  <a:lnTo>
                    <a:pt x="18669" y="43180"/>
                  </a:lnTo>
                  <a:lnTo>
                    <a:pt x="14224" y="47371"/>
                  </a:lnTo>
                  <a:lnTo>
                    <a:pt x="64368" y="47371"/>
                  </a:lnTo>
                  <a:lnTo>
                    <a:pt x="63246" y="44704"/>
                  </a:lnTo>
                  <a:lnTo>
                    <a:pt x="60325" y="41021"/>
                  </a:lnTo>
                  <a:lnTo>
                    <a:pt x="56261" y="38354"/>
                  </a:lnTo>
                  <a:lnTo>
                    <a:pt x="52324" y="35560"/>
                  </a:lnTo>
                  <a:lnTo>
                    <a:pt x="47371" y="34290"/>
                  </a:lnTo>
                  <a:close/>
                </a:path>
                <a:path w="601345" h="165735">
                  <a:moveTo>
                    <a:pt x="163068" y="36830"/>
                  </a:moveTo>
                  <a:lnTo>
                    <a:pt x="148717" y="36830"/>
                  </a:lnTo>
                  <a:lnTo>
                    <a:pt x="148797" y="99187"/>
                  </a:lnTo>
                  <a:lnTo>
                    <a:pt x="149194" y="106045"/>
                  </a:lnTo>
                  <a:lnTo>
                    <a:pt x="150571" y="113030"/>
                  </a:lnTo>
                  <a:lnTo>
                    <a:pt x="150606" y="113204"/>
                  </a:lnTo>
                  <a:lnTo>
                    <a:pt x="152949" y="119310"/>
                  </a:lnTo>
                  <a:lnTo>
                    <a:pt x="156210" y="124333"/>
                  </a:lnTo>
                  <a:lnTo>
                    <a:pt x="161162" y="130429"/>
                  </a:lnTo>
                  <a:lnTo>
                    <a:pt x="168021" y="133477"/>
                  </a:lnTo>
                  <a:lnTo>
                    <a:pt x="182245" y="133477"/>
                  </a:lnTo>
                  <a:lnTo>
                    <a:pt x="205232" y="120396"/>
                  </a:lnTo>
                  <a:lnTo>
                    <a:pt x="219456" y="120396"/>
                  </a:lnTo>
                  <a:lnTo>
                    <a:pt x="219456" y="118364"/>
                  </a:lnTo>
                  <a:lnTo>
                    <a:pt x="176784" y="118364"/>
                  </a:lnTo>
                  <a:lnTo>
                    <a:pt x="173609" y="117856"/>
                  </a:lnTo>
                  <a:lnTo>
                    <a:pt x="169291" y="115570"/>
                  </a:lnTo>
                  <a:lnTo>
                    <a:pt x="167512" y="113792"/>
                  </a:lnTo>
                  <a:lnTo>
                    <a:pt x="166243" y="111252"/>
                  </a:lnTo>
                  <a:lnTo>
                    <a:pt x="164846" y="108839"/>
                  </a:lnTo>
                  <a:lnTo>
                    <a:pt x="163957" y="106045"/>
                  </a:lnTo>
                  <a:lnTo>
                    <a:pt x="163195" y="99187"/>
                  </a:lnTo>
                  <a:lnTo>
                    <a:pt x="163068" y="36830"/>
                  </a:lnTo>
                  <a:close/>
                </a:path>
                <a:path w="601345" h="165735">
                  <a:moveTo>
                    <a:pt x="219456" y="120396"/>
                  </a:moveTo>
                  <a:lnTo>
                    <a:pt x="205232" y="120396"/>
                  </a:lnTo>
                  <a:lnTo>
                    <a:pt x="205232" y="130810"/>
                  </a:lnTo>
                  <a:lnTo>
                    <a:pt x="219456" y="130810"/>
                  </a:lnTo>
                  <a:lnTo>
                    <a:pt x="219456" y="120396"/>
                  </a:lnTo>
                  <a:close/>
                </a:path>
                <a:path w="601345" h="165735">
                  <a:moveTo>
                    <a:pt x="219456" y="36830"/>
                  </a:moveTo>
                  <a:lnTo>
                    <a:pt x="205232" y="36830"/>
                  </a:lnTo>
                  <a:lnTo>
                    <a:pt x="205232" y="107061"/>
                  </a:lnTo>
                  <a:lnTo>
                    <a:pt x="201422" y="110362"/>
                  </a:lnTo>
                  <a:lnTo>
                    <a:pt x="197358" y="113030"/>
                  </a:lnTo>
                  <a:lnTo>
                    <a:pt x="193039" y="115189"/>
                  </a:lnTo>
                  <a:lnTo>
                    <a:pt x="188595" y="117348"/>
                  </a:lnTo>
                  <a:lnTo>
                    <a:pt x="184658" y="118364"/>
                  </a:lnTo>
                  <a:lnTo>
                    <a:pt x="219456" y="118364"/>
                  </a:lnTo>
                  <a:lnTo>
                    <a:pt x="219456" y="36830"/>
                  </a:lnTo>
                  <a:close/>
                </a:path>
                <a:path w="601345" h="165735">
                  <a:moveTo>
                    <a:pt x="259714" y="0"/>
                  </a:moveTo>
                  <a:lnTo>
                    <a:pt x="245491" y="0"/>
                  </a:lnTo>
                  <a:lnTo>
                    <a:pt x="245491" y="130810"/>
                  </a:lnTo>
                  <a:lnTo>
                    <a:pt x="259714" y="130810"/>
                  </a:lnTo>
                  <a:lnTo>
                    <a:pt x="259714" y="0"/>
                  </a:lnTo>
                  <a:close/>
                </a:path>
                <a:path w="601345" h="165735">
                  <a:moveTo>
                    <a:pt x="302641" y="50165"/>
                  </a:moveTo>
                  <a:lnTo>
                    <a:pt x="288417" y="50165"/>
                  </a:lnTo>
                  <a:lnTo>
                    <a:pt x="288501" y="101727"/>
                  </a:lnTo>
                  <a:lnTo>
                    <a:pt x="306197" y="132715"/>
                  </a:lnTo>
                  <a:lnTo>
                    <a:pt x="317246" y="132715"/>
                  </a:lnTo>
                  <a:lnTo>
                    <a:pt x="320039" y="132461"/>
                  </a:lnTo>
                  <a:lnTo>
                    <a:pt x="326389" y="131445"/>
                  </a:lnTo>
                  <a:lnTo>
                    <a:pt x="329311" y="130810"/>
                  </a:lnTo>
                  <a:lnTo>
                    <a:pt x="331597" y="130048"/>
                  </a:lnTo>
                  <a:lnTo>
                    <a:pt x="331978" y="130048"/>
                  </a:lnTo>
                  <a:lnTo>
                    <a:pt x="331978" y="118745"/>
                  </a:lnTo>
                  <a:lnTo>
                    <a:pt x="314451" y="118745"/>
                  </a:lnTo>
                  <a:lnTo>
                    <a:pt x="311531" y="118237"/>
                  </a:lnTo>
                  <a:lnTo>
                    <a:pt x="309625" y="117221"/>
                  </a:lnTo>
                  <a:lnTo>
                    <a:pt x="307594" y="116205"/>
                  </a:lnTo>
                  <a:lnTo>
                    <a:pt x="306070" y="114554"/>
                  </a:lnTo>
                  <a:lnTo>
                    <a:pt x="305054" y="112268"/>
                  </a:lnTo>
                  <a:lnTo>
                    <a:pt x="303784" y="109855"/>
                  </a:lnTo>
                  <a:lnTo>
                    <a:pt x="303149" y="107315"/>
                  </a:lnTo>
                  <a:lnTo>
                    <a:pt x="302641" y="101727"/>
                  </a:lnTo>
                  <a:lnTo>
                    <a:pt x="302641" y="50165"/>
                  </a:lnTo>
                  <a:close/>
                </a:path>
                <a:path w="601345" h="165735">
                  <a:moveTo>
                    <a:pt x="331978" y="115697"/>
                  </a:moveTo>
                  <a:lnTo>
                    <a:pt x="331216" y="115697"/>
                  </a:lnTo>
                  <a:lnTo>
                    <a:pt x="330073" y="116205"/>
                  </a:lnTo>
                  <a:lnTo>
                    <a:pt x="328295" y="116840"/>
                  </a:lnTo>
                  <a:lnTo>
                    <a:pt x="323214" y="118364"/>
                  </a:lnTo>
                  <a:lnTo>
                    <a:pt x="320801" y="118745"/>
                  </a:lnTo>
                  <a:lnTo>
                    <a:pt x="331978" y="118745"/>
                  </a:lnTo>
                  <a:lnTo>
                    <a:pt x="331978" y="115697"/>
                  </a:lnTo>
                  <a:close/>
                </a:path>
                <a:path w="601345" h="165735">
                  <a:moveTo>
                    <a:pt x="331978" y="36830"/>
                  </a:moveTo>
                  <a:lnTo>
                    <a:pt x="278764" y="36830"/>
                  </a:lnTo>
                  <a:lnTo>
                    <a:pt x="278764" y="50165"/>
                  </a:lnTo>
                  <a:lnTo>
                    <a:pt x="331978" y="50165"/>
                  </a:lnTo>
                  <a:lnTo>
                    <a:pt x="331978" y="36830"/>
                  </a:lnTo>
                  <a:close/>
                </a:path>
                <a:path w="601345" h="165735">
                  <a:moveTo>
                    <a:pt x="302641" y="9906"/>
                  </a:moveTo>
                  <a:lnTo>
                    <a:pt x="288417" y="9906"/>
                  </a:lnTo>
                  <a:lnTo>
                    <a:pt x="288417" y="36830"/>
                  </a:lnTo>
                  <a:lnTo>
                    <a:pt x="302641" y="36830"/>
                  </a:lnTo>
                  <a:lnTo>
                    <a:pt x="302641" y="9906"/>
                  </a:lnTo>
                  <a:close/>
                </a:path>
                <a:path w="601345" h="165735">
                  <a:moveTo>
                    <a:pt x="364363" y="4699"/>
                  </a:moveTo>
                  <a:lnTo>
                    <a:pt x="348234" y="4699"/>
                  </a:lnTo>
                  <a:lnTo>
                    <a:pt x="348234" y="21209"/>
                  </a:lnTo>
                  <a:lnTo>
                    <a:pt x="364363" y="21209"/>
                  </a:lnTo>
                  <a:lnTo>
                    <a:pt x="364363" y="4699"/>
                  </a:lnTo>
                  <a:close/>
                </a:path>
                <a:path w="601345" h="165735">
                  <a:moveTo>
                    <a:pt x="363347" y="36830"/>
                  </a:moveTo>
                  <a:lnTo>
                    <a:pt x="349123" y="36830"/>
                  </a:lnTo>
                  <a:lnTo>
                    <a:pt x="349123" y="130810"/>
                  </a:lnTo>
                  <a:lnTo>
                    <a:pt x="363347" y="130810"/>
                  </a:lnTo>
                  <a:lnTo>
                    <a:pt x="363347" y="36830"/>
                  </a:lnTo>
                  <a:close/>
                </a:path>
                <a:path w="601345" h="165735">
                  <a:moveTo>
                    <a:pt x="405892" y="36830"/>
                  </a:moveTo>
                  <a:lnTo>
                    <a:pt x="391668" y="36830"/>
                  </a:lnTo>
                  <a:lnTo>
                    <a:pt x="391668" y="165481"/>
                  </a:lnTo>
                  <a:lnTo>
                    <a:pt x="405892" y="165481"/>
                  </a:lnTo>
                  <a:lnTo>
                    <a:pt x="405892" y="126111"/>
                  </a:lnTo>
                  <a:lnTo>
                    <a:pt x="448650" y="126111"/>
                  </a:lnTo>
                  <a:lnTo>
                    <a:pt x="451485" y="123825"/>
                  </a:lnTo>
                  <a:lnTo>
                    <a:pt x="454787" y="119634"/>
                  </a:lnTo>
                  <a:lnTo>
                    <a:pt x="455728" y="118491"/>
                  </a:lnTo>
                  <a:lnTo>
                    <a:pt x="422529" y="118491"/>
                  </a:lnTo>
                  <a:lnTo>
                    <a:pt x="419226" y="118110"/>
                  </a:lnTo>
                  <a:lnTo>
                    <a:pt x="413385" y="116586"/>
                  </a:lnTo>
                  <a:lnTo>
                    <a:pt x="410298" y="115443"/>
                  </a:lnTo>
                  <a:lnTo>
                    <a:pt x="405892" y="113284"/>
                  </a:lnTo>
                  <a:lnTo>
                    <a:pt x="405892" y="60071"/>
                  </a:lnTo>
                  <a:lnTo>
                    <a:pt x="409701" y="56768"/>
                  </a:lnTo>
                  <a:lnTo>
                    <a:pt x="413638" y="54229"/>
                  </a:lnTo>
                  <a:lnTo>
                    <a:pt x="417830" y="52324"/>
                  </a:lnTo>
                  <a:lnTo>
                    <a:pt x="421894" y="50292"/>
                  </a:lnTo>
                  <a:lnTo>
                    <a:pt x="426085" y="49275"/>
                  </a:lnTo>
                  <a:lnTo>
                    <a:pt x="458731" y="49275"/>
                  </a:lnTo>
                  <a:lnTo>
                    <a:pt x="457581" y="47117"/>
                  </a:lnTo>
                  <a:lnTo>
                    <a:pt x="457261" y="46736"/>
                  </a:lnTo>
                  <a:lnTo>
                    <a:pt x="405892" y="46736"/>
                  </a:lnTo>
                  <a:lnTo>
                    <a:pt x="405892" y="36830"/>
                  </a:lnTo>
                  <a:close/>
                </a:path>
                <a:path w="601345" h="165735">
                  <a:moveTo>
                    <a:pt x="448650" y="126111"/>
                  </a:moveTo>
                  <a:lnTo>
                    <a:pt x="405892" y="126111"/>
                  </a:lnTo>
                  <a:lnTo>
                    <a:pt x="409575" y="128397"/>
                  </a:lnTo>
                  <a:lnTo>
                    <a:pt x="413258" y="130048"/>
                  </a:lnTo>
                  <a:lnTo>
                    <a:pt x="420370" y="132080"/>
                  </a:lnTo>
                  <a:lnTo>
                    <a:pt x="424307" y="132715"/>
                  </a:lnTo>
                  <a:lnTo>
                    <a:pt x="433705" y="132715"/>
                  </a:lnTo>
                  <a:lnTo>
                    <a:pt x="438531" y="131572"/>
                  </a:lnTo>
                  <a:lnTo>
                    <a:pt x="443103" y="129286"/>
                  </a:lnTo>
                  <a:lnTo>
                    <a:pt x="447548" y="127000"/>
                  </a:lnTo>
                  <a:lnTo>
                    <a:pt x="448650" y="126111"/>
                  </a:lnTo>
                  <a:close/>
                </a:path>
                <a:path w="601345" h="165735">
                  <a:moveTo>
                    <a:pt x="458731" y="49275"/>
                  </a:moveTo>
                  <a:lnTo>
                    <a:pt x="437388" y="49275"/>
                  </a:lnTo>
                  <a:lnTo>
                    <a:pt x="442722" y="52070"/>
                  </a:lnTo>
                  <a:lnTo>
                    <a:pt x="446150" y="57785"/>
                  </a:lnTo>
                  <a:lnTo>
                    <a:pt x="451358" y="83185"/>
                  </a:lnTo>
                  <a:lnTo>
                    <a:pt x="451003" y="90297"/>
                  </a:lnTo>
                  <a:lnTo>
                    <a:pt x="434086" y="118491"/>
                  </a:lnTo>
                  <a:lnTo>
                    <a:pt x="455728" y="118491"/>
                  </a:lnTo>
                  <a:lnTo>
                    <a:pt x="466089" y="90297"/>
                  </a:lnTo>
                  <a:lnTo>
                    <a:pt x="466089" y="82677"/>
                  </a:lnTo>
                  <a:lnTo>
                    <a:pt x="465564" y="71941"/>
                  </a:lnTo>
                  <a:lnTo>
                    <a:pt x="463992" y="62503"/>
                  </a:lnTo>
                  <a:lnTo>
                    <a:pt x="461350" y="54229"/>
                  </a:lnTo>
                  <a:lnTo>
                    <a:pt x="458731" y="49275"/>
                  </a:lnTo>
                  <a:close/>
                </a:path>
                <a:path w="601345" h="165735">
                  <a:moveTo>
                    <a:pt x="433832" y="34290"/>
                  </a:moveTo>
                  <a:lnTo>
                    <a:pt x="428371" y="34290"/>
                  </a:lnTo>
                  <a:lnTo>
                    <a:pt x="423418" y="35433"/>
                  </a:lnTo>
                  <a:lnTo>
                    <a:pt x="414020" y="40259"/>
                  </a:lnTo>
                  <a:lnTo>
                    <a:pt x="409701" y="43180"/>
                  </a:lnTo>
                  <a:lnTo>
                    <a:pt x="405892" y="46736"/>
                  </a:lnTo>
                  <a:lnTo>
                    <a:pt x="457261" y="46736"/>
                  </a:lnTo>
                  <a:lnTo>
                    <a:pt x="452887" y="41523"/>
                  </a:lnTo>
                  <a:lnTo>
                    <a:pt x="447373" y="37512"/>
                  </a:lnTo>
                  <a:lnTo>
                    <a:pt x="441025" y="35097"/>
                  </a:lnTo>
                  <a:lnTo>
                    <a:pt x="433832" y="34290"/>
                  </a:lnTo>
                  <a:close/>
                </a:path>
                <a:path w="601345" h="165735">
                  <a:moveTo>
                    <a:pt x="502031" y="0"/>
                  </a:moveTo>
                  <a:lnTo>
                    <a:pt x="487807" y="0"/>
                  </a:lnTo>
                  <a:lnTo>
                    <a:pt x="487807" y="130810"/>
                  </a:lnTo>
                  <a:lnTo>
                    <a:pt x="502031" y="130810"/>
                  </a:lnTo>
                  <a:lnTo>
                    <a:pt x="502031" y="0"/>
                  </a:lnTo>
                  <a:close/>
                </a:path>
                <a:path w="601345" h="165735">
                  <a:moveTo>
                    <a:pt x="565531" y="34290"/>
                  </a:moveTo>
                  <a:lnTo>
                    <a:pt x="530758" y="55183"/>
                  </a:lnTo>
                  <a:lnTo>
                    <a:pt x="524383" y="84455"/>
                  </a:lnTo>
                  <a:lnTo>
                    <a:pt x="525121" y="95410"/>
                  </a:lnTo>
                  <a:lnTo>
                    <a:pt x="527302" y="104902"/>
                  </a:lnTo>
                  <a:lnTo>
                    <a:pt x="527335" y="105044"/>
                  </a:lnTo>
                  <a:lnTo>
                    <a:pt x="559196" y="132206"/>
                  </a:lnTo>
                  <a:lnTo>
                    <a:pt x="559409" y="132206"/>
                  </a:lnTo>
                  <a:lnTo>
                    <a:pt x="569087" y="132969"/>
                  </a:lnTo>
                  <a:lnTo>
                    <a:pt x="574548" y="132969"/>
                  </a:lnTo>
                  <a:lnTo>
                    <a:pt x="579755" y="132206"/>
                  </a:lnTo>
                  <a:lnTo>
                    <a:pt x="589788" y="129159"/>
                  </a:lnTo>
                  <a:lnTo>
                    <a:pt x="594741" y="127381"/>
                  </a:lnTo>
                  <a:lnTo>
                    <a:pt x="599439" y="125095"/>
                  </a:lnTo>
                  <a:lnTo>
                    <a:pt x="599439" y="119253"/>
                  </a:lnTo>
                  <a:lnTo>
                    <a:pt x="564514" y="119253"/>
                  </a:lnTo>
                  <a:lnTo>
                    <a:pt x="560578" y="118491"/>
                  </a:lnTo>
                  <a:lnTo>
                    <a:pt x="542887" y="105044"/>
                  </a:lnTo>
                  <a:lnTo>
                    <a:pt x="542798" y="104902"/>
                  </a:lnTo>
                  <a:lnTo>
                    <a:pt x="541147" y="100584"/>
                  </a:lnTo>
                  <a:lnTo>
                    <a:pt x="539623" y="96266"/>
                  </a:lnTo>
                  <a:lnTo>
                    <a:pt x="538861" y="91312"/>
                  </a:lnTo>
                  <a:lnTo>
                    <a:pt x="538861" y="85471"/>
                  </a:lnTo>
                  <a:lnTo>
                    <a:pt x="601091" y="85471"/>
                  </a:lnTo>
                  <a:lnTo>
                    <a:pt x="601091" y="76962"/>
                  </a:lnTo>
                  <a:lnTo>
                    <a:pt x="600887" y="73523"/>
                  </a:lnTo>
                  <a:lnTo>
                    <a:pt x="538850" y="73523"/>
                  </a:lnTo>
                  <a:lnTo>
                    <a:pt x="539388" y="67288"/>
                  </a:lnTo>
                  <a:lnTo>
                    <a:pt x="557149" y="47371"/>
                  </a:lnTo>
                  <a:lnTo>
                    <a:pt x="593160" y="47371"/>
                  </a:lnTo>
                  <a:lnTo>
                    <a:pt x="591820" y="45339"/>
                  </a:lnTo>
                  <a:lnTo>
                    <a:pt x="586747" y="40505"/>
                  </a:lnTo>
                  <a:lnTo>
                    <a:pt x="580675" y="37052"/>
                  </a:lnTo>
                  <a:lnTo>
                    <a:pt x="573603" y="34980"/>
                  </a:lnTo>
                  <a:lnTo>
                    <a:pt x="565531" y="34290"/>
                  </a:lnTo>
                  <a:close/>
                </a:path>
                <a:path w="601345" h="165735">
                  <a:moveTo>
                    <a:pt x="599439" y="107823"/>
                  </a:moveTo>
                  <a:lnTo>
                    <a:pt x="598678" y="107823"/>
                  </a:lnTo>
                  <a:lnTo>
                    <a:pt x="596264" y="110362"/>
                  </a:lnTo>
                  <a:lnTo>
                    <a:pt x="592074" y="112775"/>
                  </a:lnTo>
                  <a:lnTo>
                    <a:pt x="586232" y="115316"/>
                  </a:lnTo>
                  <a:lnTo>
                    <a:pt x="580389" y="117983"/>
                  </a:lnTo>
                  <a:lnTo>
                    <a:pt x="574675" y="119253"/>
                  </a:lnTo>
                  <a:lnTo>
                    <a:pt x="599439" y="119253"/>
                  </a:lnTo>
                  <a:lnTo>
                    <a:pt x="599439" y="107823"/>
                  </a:lnTo>
                  <a:close/>
                </a:path>
                <a:path w="601345" h="165735">
                  <a:moveTo>
                    <a:pt x="593160" y="47371"/>
                  </a:moveTo>
                  <a:lnTo>
                    <a:pt x="572262" y="47371"/>
                  </a:lnTo>
                  <a:lnTo>
                    <a:pt x="577976" y="49530"/>
                  </a:lnTo>
                  <a:lnTo>
                    <a:pt x="585343" y="58674"/>
                  </a:lnTo>
                  <a:lnTo>
                    <a:pt x="587248" y="65024"/>
                  </a:lnTo>
                  <a:lnTo>
                    <a:pt x="587248" y="73523"/>
                  </a:lnTo>
                  <a:lnTo>
                    <a:pt x="600887" y="73523"/>
                  </a:lnTo>
                  <a:lnTo>
                    <a:pt x="600517" y="67288"/>
                  </a:lnTo>
                  <a:lnTo>
                    <a:pt x="598789" y="58816"/>
                  </a:lnTo>
                  <a:lnTo>
                    <a:pt x="595893" y="51512"/>
                  </a:lnTo>
                  <a:lnTo>
                    <a:pt x="593160" y="47371"/>
                  </a:lnTo>
                  <a:close/>
                </a:path>
              </a:pathLst>
            </a:custGeom>
            <a:solidFill>
              <a:srgbClr val="E3DF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33311" y="3324098"/>
              <a:ext cx="702944" cy="165481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4235322" y="3477539"/>
            <a:ext cx="2956560" cy="84581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90"/>
              </a:spcBef>
            </a:pP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tools</a:t>
            </a:r>
            <a:r>
              <a:rPr dirty="0" sz="1350" spc="-1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without</a:t>
            </a:r>
            <a:r>
              <a:rPr dirty="0" sz="1350" spc="-13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centralised</a:t>
            </a:r>
            <a:r>
              <a:rPr dirty="0" sz="1350" spc="-15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visibility, 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making</a:t>
            </a:r>
            <a:r>
              <a:rPr dirty="0" sz="1350" spc="-18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3DFDE"/>
                </a:solidFill>
                <a:latin typeface="Verdana"/>
                <a:cs typeface="Verdana"/>
              </a:rPr>
              <a:t>it</a:t>
            </a:r>
            <a:r>
              <a:rPr dirty="0" sz="1350" spc="-1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difficult</a:t>
            </a:r>
            <a:r>
              <a:rPr dirty="0" sz="1350" spc="-18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3DFDE"/>
                </a:solidFill>
                <a:latin typeface="Verdana"/>
                <a:cs typeface="Verdana"/>
              </a:rPr>
              <a:t>to</a:t>
            </a:r>
            <a:r>
              <a:rPr dirty="0" sz="1350" spc="-17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correlate</a:t>
            </a:r>
            <a:r>
              <a:rPr dirty="0" sz="1350" spc="-19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3DFDE"/>
                </a:solidFill>
                <a:latin typeface="Verdana"/>
                <a:cs typeface="Verdana"/>
              </a:rPr>
              <a:t>findings </a:t>
            </a:r>
            <a:r>
              <a:rPr dirty="0" sz="1350" spc="-35">
                <a:solidFill>
                  <a:srgbClr val="E3DFDE"/>
                </a:solidFill>
                <a:latin typeface="Verdana"/>
                <a:cs typeface="Verdana"/>
              </a:rPr>
              <a:t>and</a:t>
            </a:r>
            <a:r>
              <a:rPr dirty="0" sz="1350" spc="-1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prioritise</a:t>
            </a:r>
            <a:r>
              <a:rPr dirty="0" sz="1350" spc="-15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remediation.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7533577" y="2026984"/>
            <a:ext cx="3295650" cy="2790825"/>
            <a:chOff x="7533577" y="2026984"/>
            <a:chExt cx="3295650" cy="2790825"/>
          </a:xfrm>
        </p:grpSpPr>
        <p:sp>
          <p:nvSpPr>
            <p:cNvPr id="24" name="object 24" descr=""/>
            <p:cNvSpPr/>
            <p:nvPr/>
          </p:nvSpPr>
          <p:spPr>
            <a:xfrm>
              <a:off x="7538339" y="2031746"/>
              <a:ext cx="3286125" cy="2781300"/>
            </a:xfrm>
            <a:custGeom>
              <a:avLst/>
              <a:gdLst/>
              <a:ahLst/>
              <a:cxnLst/>
              <a:rect l="l" t="t" r="r" b="b"/>
              <a:pathLst>
                <a:path w="3286125" h="2781300">
                  <a:moveTo>
                    <a:pt x="3234562" y="0"/>
                  </a:moveTo>
                  <a:lnTo>
                    <a:pt x="51688" y="0"/>
                  </a:lnTo>
                  <a:lnTo>
                    <a:pt x="18795" y="13588"/>
                  </a:lnTo>
                  <a:lnTo>
                    <a:pt x="0" y="51562"/>
                  </a:lnTo>
                  <a:lnTo>
                    <a:pt x="0" y="2729611"/>
                  </a:lnTo>
                  <a:lnTo>
                    <a:pt x="13715" y="2762504"/>
                  </a:lnTo>
                  <a:lnTo>
                    <a:pt x="48132" y="2780919"/>
                  </a:lnTo>
                  <a:lnTo>
                    <a:pt x="51688" y="2781173"/>
                  </a:lnTo>
                  <a:lnTo>
                    <a:pt x="3234562" y="2781173"/>
                  </a:lnTo>
                  <a:lnTo>
                    <a:pt x="3238118" y="2780919"/>
                  </a:lnTo>
                  <a:lnTo>
                    <a:pt x="3267455" y="2767584"/>
                  </a:lnTo>
                  <a:lnTo>
                    <a:pt x="3286125" y="2729611"/>
                  </a:lnTo>
                  <a:lnTo>
                    <a:pt x="3286125" y="51562"/>
                  </a:lnTo>
                  <a:lnTo>
                    <a:pt x="3272535" y="18669"/>
                  </a:lnTo>
                  <a:lnTo>
                    <a:pt x="3234562" y="0"/>
                  </a:lnTo>
                  <a:close/>
                </a:path>
              </a:pathLst>
            </a:custGeom>
            <a:solidFill>
              <a:srgbClr val="110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538339" y="2031746"/>
              <a:ext cx="3286125" cy="2781300"/>
            </a:xfrm>
            <a:custGeom>
              <a:avLst/>
              <a:gdLst/>
              <a:ahLst/>
              <a:cxnLst/>
              <a:rect l="l" t="t" r="r" b="b"/>
              <a:pathLst>
                <a:path w="3286125" h="2781300">
                  <a:moveTo>
                    <a:pt x="0" y="2725928"/>
                  </a:moveTo>
                  <a:lnTo>
                    <a:pt x="0" y="55117"/>
                  </a:lnTo>
                  <a:lnTo>
                    <a:pt x="0" y="51562"/>
                  </a:lnTo>
                  <a:lnTo>
                    <a:pt x="380" y="48005"/>
                  </a:lnTo>
                  <a:lnTo>
                    <a:pt x="1142" y="44450"/>
                  </a:lnTo>
                  <a:lnTo>
                    <a:pt x="1777" y="40894"/>
                  </a:lnTo>
                  <a:lnTo>
                    <a:pt x="2920" y="37337"/>
                  </a:lnTo>
                  <a:lnTo>
                    <a:pt x="4317" y="34036"/>
                  </a:lnTo>
                  <a:lnTo>
                    <a:pt x="5714" y="30734"/>
                  </a:lnTo>
                  <a:lnTo>
                    <a:pt x="7365" y="27559"/>
                  </a:lnTo>
                  <a:lnTo>
                    <a:pt x="9397" y="24511"/>
                  </a:lnTo>
                  <a:lnTo>
                    <a:pt x="11429" y="21462"/>
                  </a:lnTo>
                  <a:lnTo>
                    <a:pt x="13715" y="18669"/>
                  </a:lnTo>
                  <a:lnTo>
                    <a:pt x="16255" y="16128"/>
                  </a:lnTo>
                  <a:lnTo>
                    <a:pt x="18795" y="13588"/>
                  </a:lnTo>
                  <a:lnTo>
                    <a:pt x="21589" y="11302"/>
                  </a:lnTo>
                  <a:lnTo>
                    <a:pt x="24637" y="9271"/>
                  </a:lnTo>
                  <a:lnTo>
                    <a:pt x="27685" y="7238"/>
                  </a:lnTo>
                  <a:lnTo>
                    <a:pt x="44576" y="1015"/>
                  </a:lnTo>
                  <a:lnTo>
                    <a:pt x="48132" y="253"/>
                  </a:lnTo>
                  <a:lnTo>
                    <a:pt x="51688" y="0"/>
                  </a:lnTo>
                  <a:lnTo>
                    <a:pt x="55244" y="0"/>
                  </a:lnTo>
                  <a:lnTo>
                    <a:pt x="3230879" y="0"/>
                  </a:lnTo>
                  <a:lnTo>
                    <a:pt x="3234562" y="0"/>
                  </a:lnTo>
                  <a:lnTo>
                    <a:pt x="3238118" y="253"/>
                  </a:lnTo>
                  <a:lnTo>
                    <a:pt x="3241675" y="1015"/>
                  </a:lnTo>
                  <a:lnTo>
                    <a:pt x="3245230" y="1650"/>
                  </a:lnTo>
                  <a:lnTo>
                    <a:pt x="3261613" y="9271"/>
                  </a:lnTo>
                  <a:lnTo>
                    <a:pt x="3264661" y="11302"/>
                  </a:lnTo>
                  <a:lnTo>
                    <a:pt x="3285108" y="44450"/>
                  </a:lnTo>
                  <a:lnTo>
                    <a:pt x="3286125" y="51562"/>
                  </a:lnTo>
                  <a:lnTo>
                    <a:pt x="3286125" y="55117"/>
                  </a:lnTo>
                  <a:lnTo>
                    <a:pt x="3286125" y="2725928"/>
                  </a:lnTo>
                  <a:lnTo>
                    <a:pt x="3286125" y="2729611"/>
                  </a:lnTo>
                  <a:lnTo>
                    <a:pt x="3285870" y="2733167"/>
                  </a:lnTo>
                  <a:lnTo>
                    <a:pt x="3285108" y="2736723"/>
                  </a:lnTo>
                  <a:lnTo>
                    <a:pt x="3284474" y="2740279"/>
                  </a:lnTo>
                  <a:lnTo>
                    <a:pt x="3261613" y="2771902"/>
                  </a:lnTo>
                  <a:lnTo>
                    <a:pt x="3252088" y="2776982"/>
                  </a:lnTo>
                  <a:lnTo>
                    <a:pt x="3248786" y="2778379"/>
                  </a:lnTo>
                  <a:lnTo>
                    <a:pt x="3245230" y="2779522"/>
                  </a:lnTo>
                  <a:lnTo>
                    <a:pt x="3241675" y="2780157"/>
                  </a:lnTo>
                  <a:lnTo>
                    <a:pt x="3238118" y="2780919"/>
                  </a:lnTo>
                  <a:lnTo>
                    <a:pt x="3234562" y="2781173"/>
                  </a:lnTo>
                  <a:lnTo>
                    <a:pt x="3230879" y="2781173"/>
                  </a:lnTo>
                  <a:lnTo>
                    <a:pt x="55244" y="2781173"/>
                  </a:lnTo>
                  <a:lnTo>
                    <a:pt x="51688" y="2781173"/>
                  </a:lnTo>
                  <a:lnTo>
                    <a:pt x="48132" y="2780919"/>
                  </a:lnTo>
                  <a:lnTo>
                    <a:pt x="44576" y="2780157"/>
                  </a:lnTo>
                  <a:lnTo>
                    <a:pt x="41020" y="2779522"/>
                  </a:lnTo>
                  <a:lnTo>
                    <a:pt x="37464" y="2778379"/>
                  </a:lnTo>
                  <a:lnTo>
                    <a:pt x="34162" y="2776982"/>
                  </a:lnTo>
                  <a:lnTo>
                    <a:pt x="30860" y="2775585"/>
                  </a:lnTo>
                  <a:lnTo>
                    <a:pt x="27685" y="2773934"/>
                  </a:lnTo>
                  <a:lnTo>
                    <a:pt x="24637" y="2771902"/>
                  </a:lnTo>
                  <a:lnTo>
                    <a:pt x="21589" y="2769870"/>
                  </a:lnTo>
                  <a:lnTo>
                    <a:pt x="4317" y="2747137"/>
                  </a:lnTo>
                  <a:lnTo>
                    <a:pt x="2920" y="2743835"/>
                  </a:lnTo>
                  <a:lnTo>
                    <a:pt x="1777" y="2740279"/>
                  </a:lnTo>
                  <a:lnTo>
                    <a:pt x="1142" y="2736723"/>
                  </a:lnTo>
                  <a:lnTo>
                    <a:pt x="380" y="2733167"/>
                  </a:lnTo>
                  <a:lnTo>
                    <a:pt x="0" y="2729611"/>
                  </a:lnTo>
                  <a:lnTo>
                    <a:pt x="0" y="2725928"/>
                  </a:lnTo>
                  <a:close/>
                </a:path>
              </a:pathLst>
            </a:custGeom>
            <a:ln w="9523">
              <a:solidFill>
                <a:srgbClr val="29179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714615" y="2207895"/>
              <a:ext cx="514350" cy="514350"/>
            </a:xfrm>
            <a:custGeom>
              <a:avLst/>
              <a:gdLst/>
              <a:ahLst/>
              <a:cxnLst/>
              <a:rect l="l" t="t" r="r" b="b"/>
              <a:pathLst>
                <a:path w="514350" h="514350">
                  <a:moveTo>
                    <a:pt x="265556" y="0"/>
                  </a:moveTo>
                  <a:lnTo>
                    <a:pt x="248792" y="0"/>
                  </a:lnTo>
                  <a:lnTo>
                    <a:pt x="215264" y="3301"/>
                  </a:lnTo>
                  <a:lnTo>
                    <a:pt x="166496" y="16383"/>
                  </a:lnTo>
                  <a:lnTo>
                    <a:pt x="121284" y="38608"/>
                  </a:lnTo>
                  <a:lnTo>
                    <a:pt x="81279" y="69341"/>
                  </a:lnTo>
                  <a:lnTo>
                    <a:pt x="48005" y="107314"/>
                  </a:lnTo>
                  <a:lnTo>
                    <a:pt x="22732" y="151002"/>
                  </a:lnTo>
                  <a:lnTo>
                    <a:pt x="6603" y="198754"/>
                  </a:lnTo>
                  <a:lnTo>
                    <a:pt x="0" y="248792"/>
                  </a:lnTo>
                  <a:lnTo>
                    <a:pt x="0" y="257175"/>
                  </a:lnTo>
                  <a:lnTo>
                    <a:pt x="3301" y="299085"/>
                  </a:lnTo>
                  <a:lnTo>
                    <a:pt x="16382" y="347852"/>
                  </a:lnTo>
                  <a:lnTo>
                    <a:pt x="38607" y="393064"/>
                  </a:lnTo>
                  <a:lnTo>
                    <a:pt x="69341" y="433070"/>
                  </a:lnTo>
                  <a:lnTo>
                    <a:pt x="107314" y="466343"/>
                  </a:lnTo>
                  <a:lnTo>
                    <a:pt x="151002" y="491489"/>
                  </a:lnTo>
                  <a:lnTo>
                    <a:pt x="198754" y="507746"/>
                  </a:lnTo>
                  <a:lnTo>
                    <a:pt x="240283" y="513968"/>
                  </a:lnTo>
                  <a:lnTo>
                    <a:pt x="248792" y="514350"/>
                  </a:lnTo>
                  <a:lnTo>
                    <a:pt x="265556" y="514350"/>
                  </a:lnTo>
                  <a:lnTo>
                    <a:pt x="347852" y="497966"/>
                  </a:lnTo>
                  <a:lnTo>
                    <a:pt x="393064" y="475741"/>
                  </a:lnTo>
                  <a:lnTo>
                    <a:pt x="433069" y="445008"/>
                  </a:lnTo>
                  <a:lnTo>
                    <a:pt x="466343" y="407035"/>
                  </a:lnTo>
                  <a:lnTo>
                    <a:pt x="491489" y="363347"/>
                  </a:lnTo>
                  <a:lnTo>
                    <a:pt x="507745" y="315595"/>
                  </a:lnTo>
                  <a:lnTo>
                    <a:pt x="514350" y="265556"/>
                  </a:lnTo>
                  <a:lnTo>
                    <a:pt x="514350" y="248792"/>
                  </a:lnTo>
                  <a:lnTo>
                    <a:pt x="497966" y="166497"/>
                  </a:lnTo>
                  <a:lnTo>
                    <a:pt x="475741" y="121285"/>
                  </a:lnTo>
                  <a:lnTo>
                    <a:pt x="445007" y="81279"/>
                  </a:lnTo>
                  <a:lnTo>
                    <a:pt x="407034" y="48005"/>
                  </a:lnTo>
                  <a:lnTo>
                    <a:pt x="363346" y="22860"/>
                  </a:lnTo>
                  <a:lnTo>
                    <a:pt x="315594" y="6603"/>
                  </a:lnTo>
                  <a:lnTo>
                    <a:pt x="265556" y="0"/>
                  </a:lnTo>
                  <a:close/>
                </a:path>
              </a:pathLst>
            </a:custGeom>
            <a:solidFill>
              <a:srgbClr val="2A0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52410" y="2347328"/>
              <a:ext cx="241680" cy="238391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7703057" y="2878658"/>
            <a:ext cx="2649220" cy="1717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50" b="1">
                <a:solidFill>
                  <a:srgbClr val="E3DFDE"/>
                </a:solidFill>
                <a:latin typeface="Tahoma"/>
                <a:cs typeface="Tahoma"/>
              </a:rPr>
              <a:t>Complex</a:t>
            </a:r>
            <a:r>
              <a:rPr dirty="0" sz="1650" spc="-160" b="1">
                <a:solidFill>
                  <a:srgbClr val="E3DFDE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3DFDE"/>
                </a:solidFill>
                <a:latin typeface="Tahoma"/>
                <a:cs typeface="Tahoma"/>
              </a:rPr>
              <a:t>Reporting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800"/>
              </a:lnSpc>
              <a:spcBef>
                <a:spcPts val="575"/>
              </a:spcBef>
            </a:pPr>
            <a:r>
              <a:rPr dirty="0" sz="1350" spc="-40">
                <a:solidFill>
                  <a:srgbClr val="E3DFDE"/>
                </a:solidFill>
                <a:latin typeface="Verdana"/>
                <a:cs typeface="Verdana"/>
              </a:rPr>
              <a:t>Generating</a:t>
            </a:r>
            <a:r>
              <a:rPr dirty="0" sz="1350" spc="-12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3DFDE"/>
                </a:solidFill>
                <a:latin typeface="Verdana"/>
                <a:cs typeface="Verdana"/>
              </a:rPr>
              <a:t>comprehensive</a:t>
            </a:r>
            <a:r>
              <a:rPr dirty="0" sz="1350" spc="-114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3DFDE"/>
                </a:solidFill>
                <a:latin typeface="Verdana"/>
                <a:cs typeface="Verdana"/>
              </a:rPr>
              <a:t>risk 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reports</a:t>
            </a:r>
            <a:r>
              <a:rPr dirty="0" sz="1350" spc="-15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involves</a:t>
            </a:r>
            <a:r>
              <a:rPr dirty="0" sz="1350" spc="-1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3DFDE"/>
                </a:solidFill>
                <a:latin typeface="Verdana"/>
                <a:cs typeface="Verdana"/>
              </a:rPr>
              <a:t>manual</a:t>
            </a:r>
            <a:r>
              <a:rPr dirty="0" sz="1350" spc="-1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3DFDE"/>
                </a:solidFill>
                <a:latin typeface="Verdana"/>
                <a:cs typeface="Verdana"/>
              </a:rPr>
              <a:t>data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compilation</a:t>
            </a:r>
            <a:r>
              <a:rPr dirty="0" sz="1350" spc="-11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from</a:t>
            </a:r>
            <a:r>
              <a:rPr dirty="0" sz="1350" spc="-13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various</a:t>
            </a:r>
            <a:r>
              <a:rPr dirty="0" sz="1350" spc="-12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3DFDE"/>
                </a:solidFill>
                <a:latin typeface="Verdana"/>
                <a:cs typeface="Verdana"/>
              </a:rPr>
              <a:t>sources, </a:t>
            </a:r>
            <a:r>
              <a:rPr dirty="0" sz="1350" spc="-40">
                <a:solidFill>
                  <a:srgbClr val="E3DFDE"/>
                </a:solidFill>
                <a:latin typeface="Verdana"/>
                <a:cs typeface="Verdana"/>
              </a:rPr>
              <a:t>increasing</a:t>
            </a:r>
            <a:r>
              <a:rPr dirty="0" sz="1350" spc="-12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3DFDE"/>
                </a:solidFill>
                <a:latin typeface="Verdana"/>
                <a:cs typeface="Verdana"/>
              </a:rPr>
              <a:t>error</a:t>
            </a:r>
            <a:r>
              <a:rPr dirty="0" sz="1350" spc="-11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3DFDE"/>
                </a:solidFill>
                <a:latin typeface="Verdana"/>
                <a:cs typeface="Verdana"/>
              </a:rPr>
              <a:t>probability</a:t>
            </a:r>
            <a:r>
              <a:rPr dirty="0" sz="1350" spc="-114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3DFDE"/>
                </a:solidFill>
                <a:latin typeface="Verdana"/>
                <a:cs typeface="Verdana"/>
              </a:rPr>
              <a:t>and </a:t>
            </a:r>
            <a:r>
              <a:rPr dirty="0" sz="1350">
                <a:solidFill>
                  <a:srgbClr val="E3DFDE"/>
                </a:solidFill>
                <a:latin typeface="Verdana"/>
                <a:cs typeface="Verdana"/>
              </a:rPr>
              <a:t>response</a:t>
            </a:r>
            <a:r>
              <a:rPr dirty="0" sz="1350" spc="-1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3DFDE"/>
                </a:solidFill>
                <a:latin typeface="Verdana"/>
                <a:cs typeface="Verdana"/>
              </a:rPr>
              <a:t>time.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523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878" y="997965"/>
            <a:ext cx="3523615" cy="5359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45"/>
              <a:t>Project</a:t>
            </a:r>
            <a:r>
              <a:rPr dirty="0" spc="-430"/>
              <a:t> </a:t>
            </a:r>
            <a:r>
              <a:rPr dirty="0" spc="-10"/>
              <a:t>Objective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873878" y="2194687"/>
            <a:ext cx="2798445" cy="144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65" b="1">
                <a:solidFill>
                  <a:srgbClr val="E4DFDF"/>
                </a:solidFill>
                <a:latin typeface="Tahoma"/>
                <a:cs typeface="Tahoma"/>
              </a:rPr>
              <a:t>Automated</a:t>
            </a:r>
            <a:r>
              <a:rPr dirty="0" sz="1650" spc="-190" b="1">
                <a:solidFill>
                  <a:srgbClr val="E4DFDF"/>
                </a:solidFill>
                <a:latin typeface="Tahoma"/>
                <a:cs typeface="Tahoma"/>
              </a:rPr>
              <a:t> </a:t>
            </a:r>
            <a:r>
              <a:rPr dirty="0" sz="1650" spc="-60" b="1">
                <a:solidFill>
                  <a:srgbClr val="E4DFDF"/>
                </a:solidFill>
                <a:latin typeface="Tahoma"/>
                <a:cs typeface="Tahoma"/>
              </a:rPr>
              <a:t>Risk</a:t>
            </a:r>
            <a:r>
              <a:rPr dirty="0" sz="1650" spc="-190" b="1">
                <a:solidFill>
                  <a:srgbClr val="E4DFDF"/>
                </a:solidFill>
                <a:latin typeface="Tahoma"/>
                <a:cs typeface="Tahoma"/>
              </a:rPr>
              <a:t> </a:t>
            </a:r>
            <a:r>
              <a:rPr dirty="0" sz="1650" spc="-45" b="1">
                <a:solidFill>
                  <a:srgbClr val="E4DFDF"/>
                </a:solidFill>
                <a:latin typeface="Tahoma"/>
                <a:cs typeface="Tahoma"/>
              </a:rPr>
              <a:t>Assessment</a:t>
            </a:r>
            <a:endParaRPr sz="1650">
              <a:latin typeface="Tahoma"/>
              <a:cs typeface="Tahoma"/>
            </a:endParaRPr>
          </a:p>
          <a:p>
            <a:pPr algn="just" marL="12700" marR="34290">
              <a:lnSpc>
                <a:spcPct val="132600"/>
              </a:lnSpc>
              <a:spcBef>
                <a:spcPts val="565"/>
              </a:spcBef>
            </a:pP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Develop</a:t>
            </a:r>
            <a:r>
              <a:rPr dirty="0" sz="1350" spc="-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15">
                <a:solidFill>
                  <a:srgbClr val="E4DFDF"/>
                </a:solidFill>
                <a:latin typeface="Verdana"/>
                <a:cs typeface="Verdana"/>
              </a:rPr>
              <a:t>an</a:t>
            </a:r>
            <a:r>
              <a:rPr dirty="0" sz="1350" spc="9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integrated</a:t>
            </a:r>
            <a:r>
              <a:rPr dirty="0" sz="1350" spc="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4DFDF"/>
                </a:solidFill>
                <a:latin typeface="Verdana"/>
                <a:cs typeface="Verdana"/>
              </a:rPr>
              <a:t>platform</a:t>
            </a:r>
            <a:r>
              <a:rPr dirty="0" sz="1350" spc="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that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automates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vulnerability</a:t>
            </a:r>
            <a:r>
              <a:rPr dirty="0" sz="13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detection, 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port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scanning,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50">
                <a:solidFill>
                  <a:srgbClr val="E4DFDF"/>
                </a:solidFill>
                <a:latin typeface="Verdana"/>
                <a:cs typeface="Verdana"/>
              </a:rPr>
              <a:t>IP</a:t>
            </a:r>
            <a:r>
              <a:rPr dirty="0" sz="1350" spc="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analysis</a:t>
            </a:r>
            <a:r>
              <a:rPr dirty="0" sz="13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with 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minimal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manual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intervention.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878451" y="1785874"/>
            <a:ext cx="3272154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51810" algn="l"/>
              </a:tabLst>
            </a:pPr>
            <a:r>
              <a:rPr dirty="0" sz="1350" spc="-25">
                <a:solidFill>
                  <a:srgbClr val="E4DFDF"/>
                </a:solidFill>
                <a:latin typeface="Tahoma"/>
                <a:cs typeface="Tahoma"/>
              </a:rPr>
              <a:t>01</a:t>
            </a:r>
            <a:r>
              <a:rPr dirty="0" sz="1350">
                <a:solidFill>
                  <a:srgbClr val="E4DFDF"/>
                </a:solidFill>
                <a:latin typeface="Tahoma"/>
                <a:cs typeface="Tahoma"/>
              </a:rPr>
              <a:t>	</a:t>
            </a:r>
            <a:r>
              <a:rPr dirty="0" sz="1350" spc="45">
                <a:solidFill>
                  <a:srgbClr val="E4DFDF"/>
                </a:solidFill>
                <a:latin typeface="Tahoma"/>
                <a:cs typeface="Tahoma"/>
              </a:rPr>
              <a:t>02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931657" y="2194687"/>
            <a:ext cx="2639060" cy="14414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75" b="1">
                <a:solidFill>
                  <a:srgbClr val="E4DFDF"/>
                </a:solidFill>
                <a:latin typeface="Tahoma"/>
                <a:cs typeface="Tahoma"/>
              </a:rPr>
              <a:t>Real-</a:t>
            </a:r>
            <a:r>
              <a:rPr dirty="0" sz="1650" spc="-65" b="1">
                <a:solidFill>
                  <a:srgbClr val="E4DFDF"/>
                </a:solidFill>
                <a:latin typeface="Tahoma"/>
                <a:cs typeface="Tahoma"/>
              </a:rPr>
              <a:t>Time</a:t>
            </a:r>
            <a:r>
              <a:rPr dirty="0" sz="1650" spc="-200" b="1">
                <a:solidFill>
                  <a:srgbClr val="E4DF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4DFDF"/>
                </a:solidFill>
                <a:latin typeface="Tahoma"/>
                <a:cs typeface="Tahoma"/>
              </a:rPr>
              <a:t>Dashboard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600"/>
              </a:lnSpc>
              <a:spcBef>
                <a:spcPts val="565"/>
              </a:spcBef>
            </a:pP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Provide</a:t>
            </a:r>
            <a:r>
              <a:rPr dirty="0" sz="1350" spc="-1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intuitive</a:t>
            </a:r>
            <a:r>
              <a:rPr dirty="0" sz="1350" spc="-1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visualisation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of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security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posture</a:t>
            </a:r>
            <a:r>
              <a:rPr dirty="0" sz="1350" spc="-16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through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dynamic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dashboards</a:t>
            </a:r>
            <a:r>
              <a:rPr dirty="0" sz="1350" spc="-1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showing</a:t>
            </a:r>
            <a:r>
              <a:rPr dirty="0" sz="1350" spc="-1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risk</a:t>
            </a:r>
            <a:r>
              <a:rPr dirty="0" sz="1350" spc="-1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scores,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vulnerabilities,</a:t>
            </a:r>
            <a:r>
              <a:rPr dirty="0" sz="1350" spc="-1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6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threat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levels.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860163" y="3947541"/>
            <a:ext cx="5716270" cy="13087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25">
                <a:solidFill>
                  <a:srgbClr val="E4DFDF"/>
                </a:solidFill>
                <a:latin typeface="Tahoma"/>
                <a:cs typeface="Tahoma"/>
              </a:rPr>
              <a:t>03</a:t>
            </a:r>
            <a:endParaRPr sz="1350">
              <a:latin typeface="Tahoma"/>
              <a:cs typeface="Tahoma"/>
            </a:endParaRPr>
          </a:p>
          <a:p>
            <a:pPr marL="26034">
              <a:lnSpc>
                <a:spcPct val="100000"/>
              </a:lnSpc>
              <a:spcBef>
                <a:spcPts val="1595"/>
              </a:spcBef>
            </a:pPr>
            <a:r>
              <a:rPr dirty="0" sz="1650" spc="-50" b="1">
                <a:solidFill>
                  <a:srgbClr val="E4DFDF"/>
                </a:solidFill>
                <a:latin typeface="Tahoma"/>
                <a:cs typeface="Tahoma"/>
              </a:rPr>
              <a:t>Agile</a:t>
            </a:r>
            <a:r>
              <a:rPr dirty="0" sz="1650" spc="-160" b="1">
                <a:solidFill>
                  <a:srgbClr val="E4DF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4DFDF"/>
                </a:solidFill>
                <a:latin typeface="Tahoma"/>
                <a:cs typeface="Tahoma"/>
              </a:rPr>
              <a:t>Development</a:t>
            </a:r>
            <a:endParaRPr sz="1650">
              <a:latin typeface="Tahoma"/>
              <a:cs typeface="Tahoma"/>
            </a:endParaRPr>
          </a:p>
          <a:p>
            <a:pPr marL="26034" marR="5080">
              <a:lnSpc>
                <a:spcPct val="134800"/>
              </a:lnSpc>
              <a:spcBef>
                <a:spcPts val="530"/>
              </a:spcBef>
            </a:pP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Implement</a:t>
            </a:r>
            <a:r>
              <a:rPr dirty="0" sz="1350" spc="-10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iterative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development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using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Agile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methodology,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enabling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rapid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feature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delivery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2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continuous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platform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improvement.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5996" cy="6438263"/>
          </a:xfrm>
          <a:prstGeom prst="rect">
            <a:avLst/>
          </a:prstGeom>
        </p:spPr>
      </p:pic>
      <p:sp>
        <p:nvSpPr>
          <p:cNvPr id="9" name="object 9" descr=""/>
          <p:cNvSpPr/>
          <p:nvPr/>
        </p:nvSpPr>
        <p:spPr>
          <a:xfrm>
            <a:off x="4886325" y="2084324"/>
            <a:ext cx="2886075" cy="19050"/>
          </a:xfrm>
          <a:custGeom>
            <a:avLst/>
            <a:gdLst/>
            <a:ahLst/>
            <a:cxnLst/>
            <a:rect l="l" t="t" r="r" b="b"/>
            <a:pathLst>
              <a:path w="2886075" h="19050">
                <a:moveTo>
                  <a:pt x="2886075" y="0"/>
                </a:moveTo>
                <a:lnTo>
                  <a:pt x="0" y="0"/>
                </a:lnTo>
                <a:lnTo>
                  <a:pt x="0" y="19050"/>
                </a:lnTo>
                <a:lnTo>
                  <a:pt x="2886075" y="19050"/>
                </a:lnTo>
                <a:lnTo>
                  <a:pt x="2886075" y="0"/>
                </a:lnTo>
                <a:close/>
              </a:path>
            </a:pathLst>
          </a:custGeom>
          <a:solidFill>
            <a:srgbClr val="2B0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943850" y="2084070"/>
            <a:ext cx="2886075" cy="19050"/>
          </a:xfrm>
          <a:custGeom>
            <a:avLst/>
            <a:gdLst/>
            <a:ahLst/>
            <a:cxnLst/>
            <a:rect l="l" t="t" r="r" b="b"/>
            <a:pathLst>
              <a:path w="2886075" h="19050">
                <a:moveTo>
                  <a:pt x="2886075" y="0"/>
                </a:moveTo>
                <a:lnTo>
                  <a:pt x="0" y="0"/>
                </a:lnTo>
                <a:lnTo>
                  <a:pt x="0" y="19050"/>
                </a:lnTo>
                <a:lnTo>
                  <a:pt x="2886075" y="19050"/>
                </a:lnTo>
                <a:lnTo>
                  <a:pt x="2886075" y="0"/>
                </a:lnTo>
                <a:close/>
              </a:path>
            </a:pathLst>
          </a:custGeom>
          <a:solidFill>
            <a:srgbClr val="2B0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886325" y="4244975"/>
            <a:ext cx="5943600" cy="19050"/>
          </a:xfrm>
          <a:custGeom>
            <a:avLst/>
            <a:gdLst/>
            <a:ahLst/>
            <a:cxnLst/>
            <a:rect l="l" t="t" r="r" b="b"/>
            <a:pathLst>
              <a:path w="5943600" h="19050">
                <a:moveTo>
                  <a:pt x="5943600" y="0"/>
                </a:moveTo>
                <a:lnTo>
                  <a:pt x="0" y="0"/>
                </a:lnTo>
                <a:lnTo>
                  <a:pt x="0" y="19050"/>
                </a:lnTo>
                <a:lnTo>
                  <a:pt x="5943600" y="19050"/>
                </a:lnTo>
                <a:lnTo>
                  <a:pt x="5943600" y="0"/>
                </a:lnTo>
                <a:close/>
              </a:path>
            </a:pathLst>
          </a:custGeom>
          <a:solidFill>
            <a:srgbClr val="2B09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10782300"/>
          </a:xfrm>
          <a:custGeom>
            <a:avLst/>
            <a:gdLst/>
            <a:ahLst/>
            <a:cxnLst/>
            <a:rect l="l" t="t" r="r" b="b"/>
            <a:pathLst>
              <a:path w="11430000" h="10782300">
                <a:moveTo>
                  <a:pt x="11430000" y="0"/>
                </a:moveTo>
                <a:lnTo>
                  <a:pt x="0" y="0"/>
                </a:lnTo>
                <a:lnTo>
                  <a:pt x="0" y="10782300"/>
                </a:lnTo>
                <a:lnTo>
                  <a:pt x="11430000" y="107823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523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 spc="-105"/>
              <a:t>Technology</a:t>
            </a:r>
            <a:r>
              <a:rPr dirty="0" spc="-310"/>
              <a:t> </a:t>
            </a:r>
            <a:r>
              <a:rPr dirty="0" spc="-10"/>
              <a:t>Stack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7518654" y="2078481"/>
            <a:ext cx="3298825" cy="1246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b="1">
                <a:solidFill>
                  <a:srgbClr val="E4DFDF"/>
                </a:solidFill>
                <a:latin typeface="Tahoma"/>
                <a:cs typeface="Tahoma"/>
              </a:rPr>
              <a:t>Python</a:t>
            </a:r>
            <a:endParaRPr sz="1650">
              <a:latin typeface="Tahoma"/>
              <a:cs typeface="Tahoma"/>
            </a:endParaRPr>
          </a:p>
          <a:p>
            <a:pPr algn="just" marL="12700" marR="5080">
              <a:lnSpc>
                <a:spcPct val="135300"/>
              </a:lnSpc>
              <a:spcBef>
                <a:spcPts val="1050"/>
              </a:spcBef>
            </a:pP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Core</a:t>
            </a:r>
            <a:r>
              <a:rPr dirty="0" sz="1350" spc="-1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programming</a:t>
            </a:r>
            <a:r>
              <a:rPr dirty="0" sz="1350" spc="-1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language</a:t>
            </a:r>
            <a:r>
              <a:rPr dirty="0" sz="1350" spc="-1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for</a:t>
            </a:r>
            <a:r>
              <a:rPr dirty="0" sz="1350" spc="-1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backend 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logic,</a:t>
            </a:r>
            <a:r>
              <a:rPr dirty="0" sz="1350" spc="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network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scanning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modules,</a:t>
            </a:r>
            <a:r>
              <a:rPr dirty="0" sz="1350" spc="-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API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integrations.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518654" y="4326763"/>
            <a:ext cx="3056890" cy="1244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b="1">
                <a:solidFill>
                  <a:srgbClr val="E4DFDF"/>
                </a:solidFill>
                <a:latin typeface="Tahoma"/>
                <a:cs typeface="Tahoma"/>
              </a:rPr>
              <a:t>Streamlit</a:t>
            </a:r>
            <a:endParaRPr sz="1650">
              <a:latin typeface="Tahoma"/>
              <a:cs typeface="Tahoma"/>
            </a:endParaRPr>
          </a:p>
          <a:p>
            <a:pPr algn="just" marL="12700" marR="5080">
              <a:lnSpc>
                <a:spcPct val="134800"/>
              </a:lnSpc>
              <a:spcBef>
                <a:spcPts val="1060"/>
              </a:spcBef>
            </a:pPr>
            <a:r>
              <a:rPr dirty="0" sz="1350" spc="-100">
                <a:solidFill>
                  <a:srgbClr val="E4DFDF"/>
                </a:solidFill>
                <a:latin typeface="Verdana"/>
                <a:cs typeface="Verdana"/>
              </a:rPr>
              <a:t>Framework</a:t>
            </a:r>
            <a:r>
              <a:rPr dirty="0" sz="1350" spc="-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for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building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interactive</a:t>
            </a:r>
            <a:r>
              <a:rPr dirty="0" sz="1350" spc="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web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interface</a:t>
            </a:r>
            <a:r>
              <a:rPr dirty="0" sz="1350" spc="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real-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time</a:t>
            </a:r>
            <a:r>
              <a:rPr dirty="0" sz="1350" spc="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dashboard</a:t>
            </a:r>
            <a:r>
              <a:rPr dirty="0" sz="1350" spc="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with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minimal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frontend</a:t>
            </a:r>
            <a:r>
              <a:rPr dirty="0" sz="1350" spc="-1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code.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518654" y="6573773"/>
            <a:ext cx="3125470" cy="1244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20" b="1">
                <a:solidFill>
                  <a:srgbClr val="E4DFDF"/>
                </a:solidFill>
                <a:latin typeface="Tahoma"/>
                <a:cs typeface="Tahoma"/>
              </a:rPr>
              <a:t>APIs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800"/>
              </a:lnSpc>
              <a:spcBef>
                <a:spcPts val="1055"/>
              </a:spcBef>
            </a:pP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Integration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layer</a:t>
            </a:r>
            <a:r>
              <a:rPr dirty="0" sz="1350" spc="-12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connecting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scanning 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modules,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databases,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and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external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threat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intelligence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sources.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518654" y="8821928"/>
            <a:ext cx="2560320" cy="12446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b="1">
                <a:solidFill>
                  <a:srgbClr val="E4DFDF"/>
                </a:solidFill>
                <a:latin typeface="Tahoma"/>
                <a:cs typeface="Tahoma"/>
              </a:rPr>
              <a:t>GitHub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800"/>
              </a:lnSpc>
              <a:spcBef>
                <a:spcPts val="1055"/>
              </a:spcBef>
            </a:pP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Version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control,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collaborative 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development,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 and</a:t>
            </a:r>
            <a:r>
              <a:rPr dirty="0" sz="1350" spc="-10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CI/CD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pipeline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management.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3959859"/>
            <a:ext cx="6504432" cy="362839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79994" y="1445882"/>
            <a:ext cx="336550" cy="447306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24750" y="3767454"/>
            <a:ext cx="448843" cy="29972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24750" y="5939815"/>
            <a:ext cx="447040" cy="44714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52690" y="8187055"/>
            <a:ext cx="390525" cy="4474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-1"/>
            <a:ext cx="11430000" cy="7429500"/>
          </a:xfrm>
          <a:custGeom>
            <a:avLst/>
            <a:gdLst/>
            <a:ahLst/>
            <a:cxnLst/>
            <a:rect l="l" t="t" r="r" b="b"/>
            <a:pathLst>
              <a:path w="11430000" h="7429500">
                <a:moveTo>
                  <a:pt x="11430000" y="0"/>
                </a:moveTo>
                <a:lnTo>
                  <a:pt x="0" y="0"/>
                </a:lnTo>
                <a:lnTo>
                  <a:pt x="0" y="7429500"/>
                </a:lnTo>
                <a:lnTo>
                  <a:pt x="11430000" y="7429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5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95"/>
              <a:t>Agile</a:t>
            </a:r>
            <a:r>
              <a:rPr dirty="0" spc="-400"/>
              <a:t> </a:t>
            </a:r>
            <a:r>
              <a:rPr dirty="0" spc="-105"/>
              <a:t>Methodology</a:t>
            </a:r>
            <a:r>
              <a:rPr dirty="0" spc="-395"/>
              <a:t> </a:t>
            </a:r>
            <a:r>
              <a:rPr dirty="0" spc="-120"/>
              <a:t>Implementation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6231" y="1356105"/>
            <a:ext cx="9549130" cy="5358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Adopting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Agile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principles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ensures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iterative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3DFDE"/>
                </a:solidFill>
                <a:latin typeface="Verdana"/>
                <a:cs typeface="Verdana"/>
              </a:rPr>
              <a:t>development,</a:t>
            </a:r>
            <a:r>
              <a:rPr dirty="0" sz="1350" spc="-4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stakeholder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collaboration,</a:t>
            </a:r>
            <a:r>
              <a:rPr dirty="0" sz="1350" spc="-5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and</a:t>
            </a:r>
            <a:r>
              <a:rPr dirty="0" sz="1350" spc="-5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continuous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3DFDE"/>
                </a:solidFill>
                <a:latin typeface="Verdana"/>
                <a:cs typeface="Verdana"/>
              </a:rPr>
              <a:t>platform</a:t>
            </a:r>
            <a:r>
              <a:rPr dirty="0" sz="1350" spc="-5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enhancement.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1350">
              <a:latin typeface="Verdana"/>
              <a:cs typeface="Verdana"/>
            </a:endParaRPr>
          </a:p>
          <a:p>
            <a:pPr marL="1041400">
              <a:lnSpc>
                <a:spcPct val="100000"/>
              </a:lnSpc>
            </a:pPr>
            <a:r>
              <a:rPr dirty="0" sz="1650" spc="-60" b="1">
                <a:solidFill>
                  <a:srgbClr val="E3DFDE"/>
                </a:solidFill>
                <a:latin typeface="Tahoma"/>
                <a:cs typeface="Tahoma"/>
              </a:rPr>
              <a:t>Product</a:t>
            </a:r>
            <a:r>
              <a:rPr dirty="0" sz="1650" spc="-150" b="1">
                <a:solidFill>
                  <a:srgbClr val="E3DFDE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3DFDE"/>
                </a:solidFill>
                <a:latin typeface="Tahoma"/>
                <a:cs typeface="Tahoma"/>
              </a:rPr>
              <a:t>Backlog</a:t>
            </a:r>
            <a:endParaRPr sz="1650">
              <a:latin typeface="Tahoma"/>
              <a:cs typeface="Tahoma"/>
            </a:endParaRPr>
          </a:p>
          <a:p>
            <a:pPr marL="1041400">
              <a:lnSpc>
                <a:spcPct val="100000"/>
              </a:lnSpc>
              <a:spcBef>
                <a:spcPts val="1110"/>
              </a:spcBef>
            </a:pP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Centralised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repository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of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 all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features,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3DFDE"/>
                </a:solidFill>
                <a:latin typeface="Verdana"/>
                <a:cs typeface="Verdana"/>
              </a:rPr>
              <a:t>enhancements,</a:t>
            </a:r>
            <a:r>
              <a:rPr dirty="0" sz="1350" spc="-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and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technical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requirements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 prioritised</a:t>
            </a:r>
            <a:r>
              <a:rPr dirty="0" sz="1350" spc="-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by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business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value.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350">
              <a:latin typeface="Verdana"/>
              <a:cs typeface="Verdana"/>
            </a:endParaRPr>
          </a:p>
          <a:p>
            <a:pPr marL="1041400">
              <a:lnSpc>
                <a:spcPct val="100000"/>
              </a:lnSpc>
            </a:pPr>
            <a:r>
              <a:rPr dirty="0" sz="1650" spc="-70" b="1">
                <a:solidFill>
                  <a:srgbClr val="E3DFDE"/>
                </a:solidFill>
                <a:latin typeface="Tahoma"/>
                <a:cs typeface="Tahoma"/>
              </a:rPr>
              <a:t>Sprint</a:t>
            </a:r>
            <a:r>
              <a:rPr dirty="0" sz="1650" spc="-175" b="1">
                <a:solidFill>
                  <a:srgbClr val="E3DFDE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3DFDE"/>
                </a:solidFill>
                <a:latin typeface="Tahoma"/>
                <a:cs typeface="Tahoma"/>
              </a:rPr>
              <a:t>Planning</a:t>
            </a:r>
            <a:endParaRPr sz="1650">
              <a:latin typeface="Tahoma"/>
              <a:cs typeface="Tahoma"/>
            </a:endParaRPr>
          </a:p>
          <a:p>
            <a:pPr marL="1041400">
              <a:lnSpc>
                <a:spcPct val="100000"/>
              </a:lnSpc>
              <a:spcBef>
                <a:spcPts val="1105"/>
              </a:spcBef>
            </a:pP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Two-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week</a:t>
            </a:r>
            <a:r>
              <a:rPr dirty="0" sz="1350" spc="-15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iterations</a:t>
            </a:r>
            <a:r>
              <a:rPr dirty="0" sz="1350" spc="-15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where</a:t>
            </a:r>
            <a:r>
              <a:rPr dirty="0" sz="1350" spc="-18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3DFDE"/>
                </a:solidFill>
                <a:latin typeface="Verdana"/>
                <a:cs typeface="Verdana"/>
              </a:rPr>
              <a:t>team</a:t>
            </a:r>
            <a:r>
              <a:rPr dirty="0" sz="1350" spc="-15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commits</a:t>
            </a:r>
            <a:r>
              <a:rPr dirty="0" sz="1350" spc="-1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3DFDE"/>
                </a:solidFill>
                <a:latin typeface="Verdana"/>
                <a:cs typeface="Verdana"/>
              </a:rPr>
              <a:t>to</a:t>
            </a:r>
            <a:r>
              <a:rPr dirty="0" sz="1350" spc="-1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specific</a:t>
            </a:r>
            <a:r>
              <a:rPr dirty="0" sz="1350" spc="-15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backlog</a:t>
            </a:r>
            <a:r>
              <a:rPr dirty="0" sz="1350" spc="-1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items</a:t>
            </a:r>
            <a:r>
              <a:rPr dirty="0" sz="1350" spc="-1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3DFDE"/>
                </a:solidFill>
                <a:latin typeface="Verdana"/>
                <a:cs typeface="Verdana"/>
              </a:rPr>
              <a:t>and</a:t>
            </a:r>
            <a:r>
              <a:rPr dirty="0" sz="1350" spc="-1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defines</a:t>
            </a:r>
            <a:r>
              <a:rPr dirty="0" sz="1350" spc="-1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acceptance</a:t>
            </a:r>
            <a:r>
              <a:rPr dirty="0" sz="1350" spc="-1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criteria.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350">
              <a:latin typeface="Verdana"/>
              <a:cs typeface="Verdana"/>
            </a:endParaRPr>
          </a:p>
          <a:p>
            <a:pPr marL="1041400">
              <a:lnSpc>
                <a:spcPct val="100000"/>
              </a:lnSpc>
              <a:spcBef>
                <a:spcPts val="5"/>
              </a:spcBef>
            </a:pPr>
            <a:r>
              <a:rPr dirty="0" sz="1650" spc="-65" b="1">
                <a:solidFill>
                  <a:srgbClr val="E3DFDE"/>
                </a:solidFill>
                <a:latin typeface="Tahoma"/>
                <a:cs typeface="Tahoma"/>
              </a:rPr>
              <a:t>Daily</a:t>
            </a:r>
            <a:r>
              <a:rPr dirty="0" sz="1650" spc="-170" b="1">
                <a:solidFill>
                  <a:srgbClr val="E3DFDE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3DFDE"/>
                </a:solidFill>
                <a:latin typeface="Tahoma"/>
                <a:cs typeface="Tahoma"/>
              </a:rPr>
              <a:t>Standup</a:t>
            </a:r>
            <a:endParaRPr sz="1650">
              <a:latin typeface="Tahoma"/>
              <a:cs typeface="Tahoma"/>
            </a:endParaRPr>
          </a:p>
          <a:p>
            <a:pPr marL="1041400">
              <a:lnSpc>
                <a:spcPct val="100000"/>
              </a:lnSpc>
              <a:spcBef>
                <a:spcPts val="1090"/>
              </a:spcBef>
            </a:pPr>
            <a:r>
              <a:rPr dirty="0" sz="1350" spc="-105">
                <a:solidFill>
                  <a:srgbClr val="E3DFDE"/>
                </a:solidFill>
                <a:latin typeface="Verdana"/>
                <a:cs typeface="Verdana"/>
              </a:rPr>
              <a:t>15-</a:t>
            </a:r>
            <a:r>
              <a:rPr dirty="0" sz="1350" spc="-100">
                <a:solidFill>
                  <a:srgbClr val="E3DFDE"/>
                </a:solidFill>
                <a:latin typeface="Verdana"/>
                <a:cs typeface="Verdana"/>
              </a:rPr>
              <a:t>minute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sync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to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review</a:t>
            </a:r>
            <a:r>
              <a:rPr dirty="0" sz="1350" spc="-90">
                <a:solidFill>
                  <a:srgbClr val="E3DFDE"/>
                </a:solidFill>
                <a:latin typeface="Verdana"/>
                <a:cs typeface="Verdana"/>
              </a:rPr>
              <a:t> progress,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identify blockers,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and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adjust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priorities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for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remaining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sprint</a:t>
            </a:r>
            <a:r>
              <a:rPr dirty="0" sz="1350" spc="-5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work.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350">
              <a:latin typeface="Verdana"/>
              <a:cs typeface="Verdana"/>
            </a:endParaRPr>
          </a:p>
          <a:p>
            <a:pPr marL="1041400">
              <a:lnSpc>
                <a:spcPct val="100000"/>
              </a:lnSpc>
            </a:pPr>
            <a:r>
              <a:rPr dirty="0" sz="1650" spc="-70" b="1">
                <a:solidFill>
                  <a:srgbClr val="E3DFDE"/>
                </a:solidFill>
                <a:latin typeface="Tahoma"/>
                <a:cs typeface="Tahoma"/>
              </a:rPr>
              <a:t>Sprint</a:t>
            </a:r>
            <a:r>
              <a:rPr dirty="0" sz="1650" spc="-175" b="1">
                <a:solidFill>
                  <a:srgbClr val="E3DFDE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3DFDE"/>
                </a:solidFill>
                <a:latin typeface="Tahoma"/>
                <a:cs typeface="Tahoma"/>
              </a:rPr>
              <a:t>Review</a:t>
            </a:r>
            <a:endParaRPr sz="1650">
              <a:latin typeface="Tahoma"/>
              <a:cs typeface="Tahoma"/>
            </a:endParaRPr>
          </a:p>
          <a:p>
            <a:pPr marL="1041400">
              <a:lnSpc>
                <a:spcPct val="100000"/>
              </a:lnSpc>
              <a:spcBef>
                <a:spcPts val="1095"/>
              </a:spcBef>
            </a:pPr>
            <a:r>
              <a:rPr dirty="0" sz="1350" spc="-114">
                <a:solidFill>
                  <a:srgbClr val="E3DFDE"/>
                </a:solidFill>
                <a:latin typeface="Verdana"/>
                <a:cs typeface="Verdana"/>
              </a:rPr>
              <a:t>Demo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completed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features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to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stakeholders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and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 gather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3DFDE"/>
                </a:solidFill>
                <a:latin typeface="Verdana"/>
                <a:cs typeface="Verdana"/>
              </a:rPr>
              <a:t>feedback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for </a:t>
            </a:r>
            <a:r>
              <a:rPr dirty="0" sz="1350" spc="-90">
                <a:solidFill>
                  <a:srgbClr val="E3DFDE"/>
                </a:solidFill>
                <a:latin typeface="Verdana"/>
                <a:cs typeface="Verdana"/>
              </a:rPr>
              <a:t>next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iteration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planning.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350">
              <a:latin typeface="Verdana"/>
              <a:cs typeface="Verdana"/>
            </a:endParaRPr>
          </a:p>
          <a:p>
            <a:pPr marL="1041400">
              <a:lnSpc>
                <a:spcPct val="100000"/>
              </a:lnSpc>
              <a:spcBef>
                <a:spcPts val="5"/>
              </a:spcBef>
            </a:pPr>
            <a:r>
              <a:rPr dirty="0" sz="1650" spc="-10" b="1">
                <a:solidFill>
                  <a:srgbClr val="E3DFDE"/>
                </a:solidFill>
                <a:latin typeface="Tahoma"/>
                <a:cs typeface="Tahoma"/>
              </a:rPr>
              <a:t>Retrospective</a:t>
            </a:r>
            <a:endParaRPr sz="1650">
              <a:latin typeface="Tahoma"/>
              <a:cs typeface="Tahoma"/>
            </a:endParaRPr>
          </a:p>
          <a:p>
            <a:pPr marL="1041400">
              <a:lnSpc>
                <a:spcPct val="100000"/>
              </a:lnSpc>
              <a:spcBef>
                <a:spcPts val="1100"/>
              </a:spcBef>
            </a:pPr>
            <a:r>
              <a:rPr dirty="0" sz="1350" spc="-114">
                <a:solidFill>
                  <a:srgbClr val="E3DFDE"/>
                </a:solidFill>
                <a:latin typeface="Verdana"/>
                <a:cs typeface="Verdana"/>
              </a:rPr>
              <a:t>Team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reflection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on</a:t>
            </a:r>
            <a:r>
              <a:rPr dirty="0" sz="1350" spc="-9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what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went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well,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what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improved,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3DFDE"/>
                </a:solidFill>
                <a:latin typeface="Verdana"/>
                <a:cs typeface="Verdana"/>
              </a:rPr>
              <a:t>and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action</a:t>
            </a:r>
            <a:r>
              <a:rPr dirty="0" sz="1350" spc="-90">
                <a:solidFill>
                  <a:srgbClr val="E3DFDE"/>
                </a:solidFill>
                <a:latin typeface="Verdana"/>
                <a:cs typeface="Verdana"/>
              </a:rPr>
              <a:t> items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for</a:t>
            </a:r>
            <a:r>
              <a:rPr dirty="0" sz="1350" spc="-90">
                <a:solidFill>
                  <a:srgbClr val="E3DFDE"/>
                </a:solidFill>
                <a:latin typeface="Verdana"/>
                <a:cs typeface="Verdana"/>
              </a:rPr>
              <a:t> enhanced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productivity.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359" y="1812975"/>
            <a:ext cx="867410" cy="51508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523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4734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 spc="-170"/>
              <a:t>Platform</a:t>
            </a:r>
            <a:r>
              <a:rPr dirty="0" spc="-480"/>
              <a:t> </a:t>
            </a:r>
            <a:r>
              <a:rPr dirty="0" spc="-10"/>
              <a:t>Features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7755" y="3603116"/>
            <a:ext cx="2360930" cy="171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200" b="1">
                <a:solidFill>
                  <a:srgbClr val="E4DFDF"/>
                </a:solidFill>
                <a:latin typeface="Tahoma"/>
                <a:cs typeface="Tahoma"/>
              </a:rPr>
              <a:t>IP</a:t>
            </a:r>
            <a:r>
              <a:rPr dirty="0" sz="1650" spc="-165" b="1">
                <a:solidFill>
                  <a:srgbClr val="E4DF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4DFDF"/>
                </a:solidFill>
                <a:latin typeface="Tahoma"/>
                <a:cs typeface="Tahoma"/>
              </a:rPr>
              <a:t>Analysis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600"/>
              </a:lnSpc>
              <a:spcBef>
                <a:spcPts val="575"/>
              </a:spcBef>
            </a:pP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Comprehensive</a:t>
            </a:r>
            <a:r>
              <a:rPr dirty="0" sz="1350" spc="-10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examination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of</a:t>
            </a:r>
            <a:r>
              <a:rPr dirty="0" sz="1350" spc="-18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IP</a:t>
            </a:r>
            <a:r>
              <a:rPr dirty="0" sz="1350" spc="-17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addresses</a:t>
            </a:r>
            <a:r>
              <a:rPr dirty="0" sz="1350" spc="-17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for</a:t>
            </a:r>
            <a:r>
              <a:rPr dirty="0" sz="1350" spc="-18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reputation,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geolocation,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 associated 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domains,</a:t>
            </a:r>
            <a:r>
              <a:rPr dirty="0" sz="1350" spc="-1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historical</a:t>
            </a:r>
            <a:r>
              <a:rPr dirty="0" sz="1350" spc="-16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threat intelligence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data.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99002" y="3603116"/>
            <a:ext cx="2255520" cy="19958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60" b="1">
                <a:solidFill>
                  <a:srgbClr val="E4DFDF"/>
                </a:solidFill>
                <a:latin typeface="Tahoma"/>
                <a:cs typeface="Tahoma"/>
              </a:rPr>
              <a:t>Port</a:t>
            </a:r>
            <a:r>
              <a:rPr dirty="0" sz="1650" spc="-195" b="1">
                <a:solidFill>
                  <a:srgbClr val="E4DF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4DFDF"/>
                </a:solidFill>
                <a:latin typeface="Tahoma"/>
                <a:cs typeface="Tahoma"/>
              </a:rPr>
              <a:t>Scanning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3400"/>
              </a:lnSpc>
              <a:spcBef>
                <a:spcPts val="560"/>
              </a:spcBef>
            </a:pP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Active</a:t>
            </a:r>
            <a:r>
              <a:rPr dirty="0" sz="1350" spc="-1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scanning</a:t>
            </a:r>
            <a:r>
              <a:rPr dirty="0" sz="1350" spc="-1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of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4DFDF"/>
                </a:solidFill>
                <a:latin typeface="Verdana"/>
                <a:cs typeface="Verdana"/>
              </a:rPr>
              <a:t>TCP/UDP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ports</a:t>
            </a:r>
            <a:r>
              <a:rPr dirty="0" sz="1350" spc="-1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to</a:t>
            </a:r>
            <a:r>
              <a:rPr dirty="0" sz="1350" spc="-1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identify</a:t>
            </a:r>
            <a:r>
              <a:rPr dirty="0" sz="1350" spc="-1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open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services,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potential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vulnerabilities,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and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misconfigured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network endpoints.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09869" y="3603116"/>
            <a:ext cx="2364740" cy="171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65" b="1">
                <a:solidFill>
                  <a:srgbClr val="E4DFDF"/>
                </a:solidFill>
                <a:latin typeface="Tahoma"/>
                <a:cs typeface="Tahoma"/>
              </a:rPr>
              <a:t>Risk</a:t>
            </a:r>
            <a:r>
              <a:rPr dirty="0" sz="1650" spc="-190" b="1">
                <a:solidFill>
                  <a:srgbClr val="E4DF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4DFDF"/>
                </a:solidFill>
                <a:latin typeface="Tahoma"/>
                <a:cs typeface="Tahoma"/>
              </a:rPr>
              <a:t>Scoring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600"/>
              </a:lnSpc>
              <a:spcBef>
                <a:spcPts val="575"/>
              </a:spcBef>
            </a:pPr>
            <a:r>
              <a:rPr dirty="0" sz="1350" spc="-30">
                <a:solidFill>
                  <a:srgbClr val="E4DFDF"/>
                </a:solidFill>
                <a:latin typeface="Verdana"/>
                <a:cs typeface="Verdana"/>
              </a:rPr>
              <a:t>Automated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calculation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of composite</a:t>
            </a:r>
            <a:r>
              <a:rPr dirty="0" sz="1350" spc="-1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risk</a:t>
            </a:r>
            <a:r>
              <a:rPr dirty="0" sz="1350" spc="-12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scores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based </a:t>
            </a:r>
            <a:r>
              <a:rPr dirty="0" sz="1350" spc="-100">
                <a:solidFill>
                  <a:srgbClr val="E4DFDF"/>
                </a:solidFill>
                <a:latin typeface="Verdana"/>
                <a:cs typeface="Verdana"/>
              </a:rPr>
              <a:t>on 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vulnerability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severity,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asset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criticality,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exploit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availability</a:t>
            </a:r>
            <a:r>
              <a:rPr dirty="0" sz="1350" spc="-12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metrics.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422385" y="3603116"/>
            <a:ext cx="2355850" cy="17157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10" b="1">
                <a:solidFill>
                  <a:srgbClr val="E4DFDF"/>
                </a:solidFill>
                <a:latin typeface="Tahoma"/>
                <a:cs typeface="Tahoma"/>
              </a:rPr>
              <a:t>Dashboard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2600"/>
              </a:lnSpc>
              <a:spcBef>
                <a:spcPts val="575"/>
              </a:spcBef>
            </a:pP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Real-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time</a:t>
            </a:r>
            <a:r>
              <a:rPr dirty="0" sz="1350" spc="-1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visualisation 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dashboard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displaying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security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metrics,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trend</a:t>
            </a:r>
            <a:r>
              <a:rPr dirty="0" sz="1350" spc="-1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analysis,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compliance</a:t>
            </a:r>
            <a:r>
              <a:rPr dirty="0" sz="1350" spc="-10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4DFDF"/>
                </a:solidFill>
                <a:latin typeface="Verdana"/>
                <a:cs typeface="Verdana"/>
              </a:rPr>
              <a:t>status,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and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executive-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level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reporting.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5" y="1674495"/>
            <a:ext cx="1737868" cy="1747520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9925" y="1674495"/>
            <a:ext cx="1737868" cy="174752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9775" y="1674495"/>
            <a:ext cx="1737868" cy="174752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29625" y="1674495"/>
            <a:ext cx="1747520" cy="1747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8162925"/>
          </a:xfrm>
          <a:custGeom>
            <a:avLst/>
            <a:gdLst/>
            <a:ahLst/>
            <a:cxnLst/>
            <a:rect l="l" t="t" r="r" b="b"/>
            <a:pathLst>
              <a:path w="11430000" h="8162925">
                <a:moveTo>
                  <a:pt x="11430000" y="0"/>
                </a:moveTo>
                <a:lnTo>
                  <a:pt x="0" y="0"/>
                </a:lnTo>
                <a:lnTo>
                  <a:pt x="0" y="8162925"/>
                </a:lnTo>
                <a:lnTo>
                  <a:pt x="11430000" y="8162925"/>
                </a:lnTo>
                <a:lnTo>
                  <a:pt x="11430000" y="0"/>
                </a:lnTo>
                <a:close/>
              </a:path>
            </a:pathLst>
          </a:custGeom>
          <a:solidFill>
            <a:srgbClr val="2523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 spc="-150"/>
              <a:t>Working</a:t>
            </a:r>
            <a:r>
              <a:rPr dirty="0" spc="-415"/>
              <a:t> </a:t>
            </a:r>
            <a:r>
              <a:rPr dirty="0" spc="-10"/>
              <a:t>Process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7755" y="1903603"/>
            <a:ext cx="3152140" cy="3334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30" b="1">
                <a:solidFill>
                  <a:srgbClr val="FFFFFF"/>
                </a:solidFill>
                <a:latin typeface="Tahoma"/>
                <a:cs typeface="Tahoma"/>
              </a:rPr>
              <a:t>Scan</a:t>
            </a:r>
            <a:r>
              <a:rPr dirty="0" sz="2000" spc="-1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Initiation</a:t>
            </a:r>
            <a:endParaRPr sz="2000">
              <a:latin typeface="Tahoma"/>
              <a:cs typeface="Tahoma"/>
            </a:endParaRPr>
          </a:p>
          <a:p>
            <a:pPr marL="12700" marR="8890">
              <a:lnSpc>
                <a:spcPct val="134600"/>
              </a:lnSpc>
              <a:spcBef>
                <a:spcPts val="1045"/>
              </a:spcBef>
            </a:pP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User</a:t>
            </a:r>
            <a:r>
              <a:rPr dirty="0" sz="1350" spc="-18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specifies</a:t>
            </a:r>
            <a:r>
              <a:rPr dirty="0" sz="1350" spc="-17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target</a:t>
            </a:r>
            <a:r>
              <a:rPr dirty="0" sz="1350" spc="-17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IP</a:t>
            </a:r>
            <a:r>
              <a:rPr dirty="0" sz="1350" spc="-17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range</a:t>
            </a:r>
            <a:r>
              <a:rPr dirty="0" sz="1350" spc="-18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or</a:t>
            </a:r>
            <a:r>
              <a:rPr dirty="0" sz="1350" spc="-18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4DFDF"/>
                </a:solidFill>
                <a:latin typeface="Verdana"/>
                <a:cs typeface="Verdana"/>
              </a:rPr>
              <a:t>domain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through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intuitive</a:t>
            </a:r>
            <a:r>
              <a:rPr dirty="0" sz="1350" spc="-1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interface.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Platform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validates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input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format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schedules scanning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jobs.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spc="-100" b="1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dirty="0" sz="2000" spc="-2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Collection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34900"/>
              </a:lnSpc>
              <a:spcBef>
                <a:spcPts val="1045"/>
              </a:spcBef>
            </a:pP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Concurrent</a:t>
            </a:r>
            <a:r>
              <a:rPr dirty="0" sz="1350" spc="-10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modules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execute</a:t>
            </a:r>
            <a:r>
              <a:rPr dirty="0" sz="1350" spc="-1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network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discovery,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port</a:t>
            </a:r>
            <a:r>
              <a:rPr dirty="0" sz="1350" spc="-1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scanning,</a:t>
            </a:r>
            <a:r>
              <a:rPr dirty="0" sz="1350" spc="-1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service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identification,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vulnerability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detection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using</a:t>
            </a:r>
            <a:r>
              <a:rPr dirty="0" sz="1350" spc="-12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integrated</a:t>
            </a:r>
            <a:r>
              <a:rPr dirty="0" sz="1350" spc="-1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tools.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7755" y="5417058"/>
            <a:ext cx="2981960" cy="1583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35" b="1">
                <a:solidFill>
                  <a:srgbClr val="FFFFFF"/>
                </a:solidFill>
                <a:latin typeface="Tahoma"/>
                <a:cs typeface="Tahoma"/>
              </a:rPr>
              <a:t>Analysis</a:t>
            </a:r>
            <a:r>
              <a:rPr dirty="0" sz="2000" spc="-20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Engine</a:t>
            </a:r>
            <a:endParaRPr sz="2000">
              <a:latin typeface="Tahoma"/>
              <a:cs typeface="Tahoma"/>
            </a:endParaRPr>
          </a:p>
          <a:p>
            <a:pPr algn="just" marL="12700" marR="5080">
              <a:lnSpc>
                <a:spcPct val="134900"/>
              </a:lnSpc>
              <a:spcBef>
                <a:spcPts val="1120"/>
              </a:spcBef>
            </a:pP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Collected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 data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feeds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risk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calculation 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algorithms</a:t>
            </a:r>
            <a:r>
              <a:rPr dirty="0" sz="1350" spc="2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4DFDF"/>
                </a:solidFill>
                <a:latin typeface="Verdana"/>
                <a:cs typeface="Verdana"/>
              </a:rPr>
              <a:t>that</a:t>
            </a:r>
            <a:r>
              <a:rPr dirty="0" sz="1350" spc="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correlate</a:t>
            </a:r>
            <a:r>
              <a:rPr dirty="0" sz="1350" spc="3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findings</a:t>
            </a:r>
            <a:r>
              <a:rPr dirty="0" sz="1350" spc="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with 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threat</a:t>
            </a:r>
            <a:r>
              <a:rPr dirty="0" sz="1350" spc="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intelligence</a:t>
            </a:r>
            <a:r>
              <a:rPr dirty="0" sz="1350" spc="1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databases</a:t>
            </a:r>
            <a:r>
              <a:rPr dirty="0" sz="1350" spc="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CVE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repositories.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323715" y="5246370"/>
            <a:ext cx="6075045" cy="1029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Reporting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34800"/>
              </a:lnSpc>
              <a:spcBef>
                <a:spcPts val="1135"/>
              </a:spcBef>
            </a:pP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Generated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reports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include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executive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summaries,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technical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details,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remediation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recommendations,</a:t>
            </a:r>
            <a:r>
              <a:rPr dirty="0" sz="1350" spc="-10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compliance</a:t>
            </a:r>
            <a:r>
              <a:rPr dirty="0" sz="1350" spc="-1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mapping.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323715" y="6465824"/>
            <a:ext cx="6227445" cy="1018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75" b="1">
                <a:solidFill>
                  <a:srgbClr val="FFFFFF"/>
                </a:solidFill>
                <a:latin typeface="Tahoma"/>
                <a:cs typeface="Tahoma"/>
              </a:rPr>
              <a:t>Continuous</a:t>
            </a:r>
            <a:r>
              <a:rPr dirty="0" sz="2000" spc="-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Tahoma"/>
                <a:cs typeface="Tahoma"/>
              </a:rPr>
              <a:t>Monitoring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1215"/>
              </a:spcBef>
            </a:pPr>
            <a:r>
              <a:rPr dirty="0" sz="1350" spc="-90">
                <a:solidFill>
                  <a:srgbClr val="E4DFDF"/>
                </a:solidFill>
                <a:latin typeface="Verdana"/>
                <a:cs typeface="Verdana"/>
              </a:rPr>
              <a:t>Scheduled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scans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run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automatically,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alerting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on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E4DFDF"/>
                </a:solidFill>
                <a:latin typeface="Verdana"/>
                <a:cs typeface="Verdana"/>
              </a:rPr>
              <a:t>new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vulnerabilities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while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tracking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remediation</a:t>
            </a:r>
            <a:r>
              <a:rPr dirty="0" sz="1350" spc="-1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progress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over</a:t>
            </a:r>
            <a:r>
              <a:rPr dirty="0" sz="1350" spc="-15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time.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3875" y="1445387"/>
            <a:ext cx="6504432" cy="36283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231" y="1199134"/>
            <a:ext cx="5713730" cy="5359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30"/>
              <a:t>Challenges</a:t>
            </a:r>
            <a:r>
              <a:rPr dirty="0" spc="-455"/>
              <a:t> </a:t>
            </a:r>
            <a:r>
              <a:rPr dirty="0" spc="-105"/>
              <a:t>and</a:t>
            </a:r>
            <a:r>
              <a:rPr dirty="0" spc="-459"/>
              <a:t> </a:t>
            </a:r>
            <a:r>
              <a:rPr dirty="0" spc="-114"/>
              <a:t>Future</a:t>
            </a:r>
            <a:r>
              <a:rPr dirty="0" spc="-455"/>
              <a:t> </a:t>
            </a:r>
            <a:r>
              <a:rPr dirty="0" spc="-50"/>
              <a:t>Scope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80390" y="2093595"/>
            <a:ext cx="5048250" cy="3124200"/>
            <a:chOff x="580390" y="2093595"/>
            <a:chExt cx="5048250" cy="3124200"/>
          </a:xfrm>
        </p:grpSpPr>
        <p:sp>
          <p:nvSpPr>
            <p:cNvPr id="4" name="object 4" descr=""/>
            <p:cNvSpPr/>
            <p:nvPr/>
          </p:nvSpPr>
          <p:spPr>
            <a:xfrm>
              <a:off x="599440" y="2103120"/>
              <a:ext cx="5019675" cy="3105150"/>
            </a:xfrm>
            <a:custGeom>
              <a:avLst/>
              <a:gdLst/>
              <a:ahLst/>
              <a:cxnLst/>
              <a:rect l="l" t="t" r="r" b="b"/>
              <a:pathLst>
                <a:path w="5019675" h="3105150">
                  <a:moveTo>
                    <a:pt x="4972558" y="0"/>
                  </a:moveTo>
                  <a:lnTo>
                    <a:pt x="71196" y="0"/>
                  </a:lnTo>
                  <a:lnTo>
                    <a:pt x="51663" y="3428"/>
                  </a:lnTo>
                  <a:lnTo>
                    <a:pt x="15620" y="26035"/>
                  </a:lnTo>
                  <a:lnTo>
                    <a:pt x="0" y="62356"/>
                  </a:lnTo>
                  <a:lnTo>
                    <a:pt x="0" y="3042792"/>
                  </a:lnTo>
                  <a:lnTo>
                    <a:pt x="3886" y="3059938"/>
                  </a:lnTo>
                  <a:lnTo>
                    <a:pt x="29705" y="3091484"/>
                  </a:lnTo>
                  <a:lnTo>
                    <a:pt x="66243" y="3104718"/>
                  </a:lnTo>
                  <a:lnTo>
                    <a:pt x="71196" y="3105150"/>
                  </a:lnTo>
                  <a:lnTo>
                    <a:pt x="4972558" y="3105150"/>
                  </a:lnTo>
                  <a:lnTo>
                    <a:pt x="4975733" y="3104819"/>
                  </a:lnTo>
                  <a:lnTo>
                    <a:pt x="5002530" y="3092704"/>
                  </a:lnTo>
                  <a:lnTo>
                    <a:pt x="5019675" y="3058033"/>
                  </a:lnTo>
                  <a:lnTo>
                    <a:pt x="5019675" y="47116"/>
                  </a:lnTo>
                  <a:lnTo>
                    <a:pt x="5007229" y="17145"/>
                  </a:lnTo>
                  <a:lnTo>
                    <a:pt x="4972558" y="0"/>
                  </a:lnTo>
                  <a:close/>
                </a:path>
              </a:pathLst>
            </a:custGeom>
            <a:solidFill>
              <a:srgbClr val="25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00278" y="2093595"/>
              <a:ext cx="5028565" cy="3124200"/>
            </a:xfrm>
            <a:custGeom>
              <a:avLst/>
              <a:gdLst/>
              <a:ahLst/>
              <a:cxnLst/>
              <a:rect l="l" t="t" r="r" b="b"/>
              <a:pathLst>
                <a:path w="5028565" h="3124200">
                  <a:moveTo>
                    <a:pt x="4976291" y="0"/>
                  </a:moveTo>
                  <a:lnTo>
                    <a:pt x="75349" y="0"/>
                  </a:lnTo>
                  <a:lnTo>
                    <a:pt x="67843" y="380"/>
                  </a:lnTo>
                  <a:lnTo>
                    <a:pt x="27038" y="17272"/>
                  </a:lnTo>
                  <a:lnTo>
                    <a:pt x="2413" y="54101"/>
                  </a:lnTo>
                  <a:lnTo>
                    <a:pt x="0" y="65404"/>
                  </a:lnTo>
                  <a:lnTo>
                    <a:pt x="1092" y="61340"/>
                  </a:lnTo>
                  <a:lnTo>
                    <a:pt x="8826" y="47371"/>
                  </a:lnTo>
                  <a:lnTo>
                    <a:pt x="46189" y="23367"/>
                  </a:lnTo>
                  <a:lnTo>
                    <a:pt x="75349" y="19050"/>
                  </a:lnTo>
                  <a:lnTo>
                    <a:pt x="4968290" y="19050"/>
                  </a:lnTo>
                  <a:lnTo>
                    <a:pt x="5002580" y="37337"/>
                  </a:lnTo>
                  <a:lnTo>
                    <a:pt x="5009311" y="60071"/>
                  </a:lnTo>
                  <a:lnTo>
                    <a:pt x="5009311" y="3064129"/>
                  </a:lnTo>
                  <a:lnTo>
                    <a:pt x="4991023" y="3098406"/>
                  </a:lnTo>
                  <a:lnTo>
                    <a:pt x="4968290" y="3105150"/>
                  </a:lnTo>
                  <a:lnTo>
                    <a:pt x="75349" y="3105150"/>
                  </a:lnTo>
                  <a:lnTo>
                    <a:pt x="33007" y="3095536"/>
                  </a:lnTo>
                  <a:lnTo>
                    <a:pt x="1092" y="3062859"/>
                  </a:lnTo>
                  <a:lnTo>
                    <a:pt x="0" y="3058795"/>
                  </a:lnTo>
                  <a:lnTo>
                    <a:pt x="609" y="3062859"/>
                  </a:lnTo>
                  <a:lnTo>
                    <a:pt x="21475" y="3101886"/>
                  </a:lnTo>
                  <a:lnTo>
                    <a:pt x="60490" y="3122752"/>
                  </a:lnTo>
                  <a:lnTo>
                    <a:pt x="75349" y="3124200"/>
                  </a:lnTo>
                  <a:lnTo>
                    <a:pt x="4976291" y="3124200"/>
                  </a:lnTo>
                  <a:lnTo>
                    <a:pt x="5016423" y="3101009"/>
                  </a:lnTo>
                  <a:lnTo>
                    <a:pt x="5028361" y="3072384"/>
                  </a:lnTo>
                  <a:lnTo>
                    <a:pt x="5028361" y="51815"/>
                  </a:lnTo>
                  <a:lnTo>
                    <a:pt x="5005120" y="11937"/>
                  </a:lnTo>
                  <a:lnTo>
                    <a:pt x="4983530" y="1524"/>
                  </a:lnTo>
                  <a:lnTo>
                    <a:pt x="4976291" y="0"/>
                  </a:lnTo>
                  <a:close/>
                </a:path>
              </a:pathLst>
            </a:custGeom>
            <a:solidFill>
              <a:srgbClr val="2917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0390" y="2093595"/>
              <a:ext cx="76200" cy="3124200"/>
            </a:xfrm>
            <a:custGeom>
              <a:avLst/>
              <a:gdLst/>
              <a:ahLst/>
              <a:cxnLst/>
              <a:rect l="l" t="t" r="r" b="b"/>
              <a:pathLst>
                <a:path w="76200" h="3124200">
                  <a:moveTo>
                    <a:pt x="76200" y="0"/>
                  </a:moveTo>
                  <a:lnTo>
                    <a:pt x="56070" y="0"/>
                  </a:lnTo>
                  <a:lnTo>
                    <a:pt x="52158" y="380"/>
                  </a:lnTo>
                  <a:lnTo>
                    <a:pt x="14782" y="20320"/>
                  </a:lnTo>
                  <a:lnTo>
                    <a:pt x="0" y="56006"/>
                  </a:lnTo>
                  <a:lnTo>
                    <a:pt x="0" y="3068192"/>
                  </a:lnTo>
                  <a:lnTo>
                    <a:pt x="6070" y="3090799"/>
                  </a:lnTo>
                  <a:lnTo>
                    <a:pt x="33400" y="3118116"/>
                  </a:lnTo>
                  <a:lnTo>
                    <a:pt x="76200" y="3124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A0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85177" y="2714497"/>
              <a:ext cx="624840" cy="1941830"/>
            </a:xfrm>
            <a:custGeom>
              <a:avLst/>
              <a:gdLst/>
              <a:ahLst/>
              <a:cxnLst/>
              <a:rect l="l" t="t" r="r" b="b"/>
              <a:pathLst>
                <a:path w="624840" h="1941829">
                  <a:moveTo>
                    <a:pt x="57150" y="1908937"/>
                  </a:moveTo>
                  <a:lnTo>
                    <a:pt x="32372" y="1884172"/>
                  </a:lnTo>
                  <a:lnTo>
                    <a:pt x="24790" y="1884172"/>
                  </a:lnTo>
                  <a:lnTo>
                    <a:pt x="0" y="1908937"/>
                  </a:lnTo>
                  <a:lnTo>
                    <a:pt x="0" y="1916557"/>
                  </a:lnTo>
                  <a:lnTo>
                    <a:pt x="24790" y="1941322"/>
                  </a:lnTo>
                  <a:lnTo>
                    <a:pt x="32372" y="1941322"/>
                  </a:lnTo>
                  <a:lnTo>
                    <a:pt x="57150" y="1916557"/>
                  </a:lnTo>
                  <a:lnTo>
                    <a:pt x="57150" y="1908937"/>
                  </a:lnTo>
                  <a:close/>
                </a:path>
                <a:path w="624840" h="1941829">
                  <a:moveTo>
                    <a:pt x="57150" y="1299337"/>
                  </a:moveTo>
                  <a:lnTo>
                    <a:pt x="32372" y="1274572"/>
                  </a:lnTo>
                  <a:lnTo>
                    <a:pt x="24790" y="1274572"/>
                  </a:lnTo>
                  <a:lnTo>
                    <a:pt x="0" y="1299337"/>
                  </a:lnTo>
                  <a:lnTo>
                    <a:pt x="0" y="1306957"/>
                  </a:lnTo>
                  <a:lnTo>
                    <a:pt x="24790" y="1331722"/>
                  </a:lnTo>
                  <a:lnTo>
                    <a:pt x="32372" y="1331722"/>
                  </a:lnTo>
                  <a:lnTo>
                    <a:pt x="57150" y="1306957"/>
                  </a:lnTo>
                  <a:lnTo>
                    <a:pt x="57150" y="1299337"/>
                  </a:lnTo>
                  <a:close/>
                </a:path>
                <a:path w="624840" h="1941829">
                  <a:moveTo>
                    <a:pt x="57150" y="689737"/>
                  </a:moveTo>
                  <a:lnTo>
                    <a:pt x="32372" y="664972"/>
                  </a:lnTo>
                  <a:lnTo>
                    <a:pt x="24790" y="664972"/>
                  </a:lnTo>
                  <a:lnTo>
                    <a:pt x="0" y="689737"/>
                  </a:lnTo>
                  <a:lnTo>
                    <a:pt x="0" y="697357"/>
                  </a:lnTo>
                  <a:lnTo>
                    <a:pt x="24790" y="722122"/>
                  </a:lnTo>
                  <a:lnTo>
                    <a:pt x="32372" y="722122"/>
                  </a:lnTo>
                  <a:lnTo>
                    <a:pt x="57150" y="697357"/>
                  </a:lnTo>
                  <a:lnTo>
                    <a:pt x="57150" y="689737"/>
                  </a:lnTo>
                  <a:close/>
                </a:path>
                <a:path w="624840" h="1941829">
                  <a:moveTo>
                    <a:pt x="57150" y="80137"/>
                  </a:moveTo>
                  <a:lnTo>
                    <a:pt x="32372" y="55372"/>
                  </a:lnTo>
                  <a:lnTo>
                    <a:pt x="24790" y="55372"/>
                  </a:lnTo>
                  <a:lnTo>
                    <a:pt x="0" y="80137"/>
                  </a:lnTo>
                  <a:lnTo>
                    <a:pt x="0" y="87757"/>
                  </a:lnTo>
                  <a:lnTo>
                    <a:pt x="24790" y="112522"/>
                  </a:lnTo>
                  <a:lnTo>
                    <a:pt x="32372" y="112522"/>
                  </a:lnTo>
                  <a:lnTo>
                    <a:pt x="57150" y="87757"/>
                  </a:lnTo>
                  <a:lnTo>
                    <a:pt x="57150" y="80137"/>
                  </a:lnTo>
                  <a:close/>
                </a:path>
                <a:path w="624840" h="1941829">
                  <a:moveTo>
                    <a:pt x="323596" y="5588"/>
                  </a:moveTo>
                  <a:lnTo>
                    <a:pt x="251625" y="5588"/>
                  </a:lnTo>
                  <a:lnTo>
                    <a:pt x="251625" y="130810"/>
                  </a:lnTo>
                  <a:lnTo>
                    <a:pt x="266611" y="130810"/>
                  </a:lnTo>
                  <a:lnTo>
                    <a:pt x="266611" y="70485"/>
                  </a:lnTo>
                  <a:lnTo>
                    <a:pt x="315569" y="70485"/>
                  </a:lnTo>
                  <a:lnTo>
                    <a:pt x="315569" y="55753"/>
                  </a:lnTo>
                  <a:lnTo>
                    <a:pt x="266611" y="55753"/>
                  </a:lnTo>
                  <a:lnTo>
                    <a:pt x="266611" y="20447"/>
                  </a:lnTo>
                  <a:lnTo>
                    <a:pt x="323596" y="20447"/>
                  </a:lnTo>
                  <a:lnTo>
                    <a:pt x="323596" y="5588"/>
                  </a:lnTo>
                  <a:close/>
                </a:path>
                <a:path w="624840" h="1941829">
                  <a:moveTo>
                    <a:pt x="404507" y="60960"/>
                  </a:moveTo>
                  <a:lnTo>
                    <a:pt x="403745" y="56007"/>
                  </a:lnTo>
                  <a:lnTo>
                    <a:pt x="402094" y="51816"/>
                  </a:lnTo>
                  <a:lnTo>
                    <a:pt x="400850" y="48768"/>
                  </a:lnTo>
                  <a:lnTo>
                    <a:pt x="400748" y="48514"/>
                  </a:lnTo>
                  <a:lnTo>
                    <a:pt x="373748" y="34671"/>
                  </a:lnTo>
                  <a:lnTo>
                    <a:pt x="362699" y="34671"/>
                  </a:lnTo>
                  <a:lnTo>
                    <a:pt x="340245" y="38862"/>
                  </a:lnTo>
                  <a:lnTo>
                    <a:pt x="340245" y="54991"/>
                  </a:lnTo>
                  <a:lnTo>
                    <a:pt x="340995" y="54991"/>
                  </a:lnTo>
                  <a:lnTo>
                    <a:pt x="345897" y="52832"/>
                  </a:lnTo>
                  <a:lnTo>
                    <a:pt x="350634" y="51308"/>
                  </a:lnTo>
                  <a:lnTo>
                    <a:pt x="355231" y="50165"/>
                  </a:lnTo>
                  <a:lnTo>
                    <a:pt x="359232" y="49276"/>
                  </a:lnTo>
                  <a:lnTo>
                    <a:pt x="358978" y="49276"/>
                  </a:lnTo>
                  <a:lnTo>
                    <a:pt x="363982" y="48514"/>
                  </a:lnTo>
                  <a:lnTo>
                    <a:pt x="370789" y="48514"/>
                  </a:lnTo>
                  <a:lnTo>
                    <a:pt x="373748" y="48768"/>
                  </a:lnTo>
                  <a:lnTo>
                    <a:pt x="376567" y="49276"/>
                  </a:lnTo>
                  <a:lnTo>
                    <a:pt x="379387" y="49657"/>
                  </a:lnTo>
                  <a:lnTo>
                    <a:pt x="390410" y="62738"/>
                  </a:lnTo>
                  <a:lnTo>
                    <a:pt x="390410" y="68707"/>
                  </a:lnTo>
                  <a:lnTo>
                    <a:pt x="390410" y="81534"/>
                  </a:lnTo>
                  <a:lnTo>
                    <a:pt x="390410" y="107823"/>
                  </a:lnTo>
                  <a:lnTo>
                    <a:pt x="390258" y="107823"/>
                  </a:lnTo>
                  <a:lnTo>
                    <a:pt x="386854" y="110744"/>
                  </a:lnTo>
                  <a:lnTo>
                    <a:pt x="383044" y="113284"/>
                  </a:lnTo>
                  <a:lnTo>
                    <a:pt x="374777" y="117602"/>
                  </a:lnTo>
                  <a:lnTo>
                    <a:pt x="370205" y="118745"/>
                  </a:lnTo>
                  <a:lnTo>
                    <a:pt x="359206" y="118745"/>
                  </a:lnTo>
                  <a:lnTo>
                    <a:pt x="354749" y="117348"/>
                  </a:lnTo>
                  <a:lnTo>
                    <a:pt x="351815" y="114681"/>
                  </a:lnTo>
                  <a:lnTo>
                    <a:pt x="348894" y="111887"/>
                  </a:lnTo>
                  <a:lnTo>
                    <a:pt x="347433" y="107823"/>
                  </a:lnTo>
                  <a:lnTo>
                    <a:pt x="347433" y="97663"/>
                  </a:lnTo>
                  <a:lnTo>
                    <a:pt x="380974" y="82296"/>
                  </a:lnTo>
                  <a:lnTo>
                    <a:pt x="384810" y="81915"/>
                  </a:lnTo>
                  <a:lnTo>
                    <a:pt x="383921" y="81915"/>
                  </a:lnTo>
                  <a:lnTo>
                    <a:pt x="390410" y="81534"/>
                  </a:lnTo>
                  <a:lnTo>
                    <a:pt x="390410" y="68707"/>
                  </a:lnTo>
                  <a:lnTo>
                    <a:pt x="343547" y="78486"/>
                  </a:lnTo>
                  <a:lnTo>
                    <a:pt x="332752" y="96393"/>
                  </a:lnTo>
                  <a:lnTo>
                    <a:pt x="332752" y="112268"/>
                  </a:lnTo>
                  <a:lnTo>
                    <a:pt x="335394" y="119380"/>
                  </a:lnTo>
                  <a:lnTo>
                    <a:pt x="345998" y="130556"/>
                  </a:lnTo>
                  <a:lnTo>
                    <a:pt x="352450" y="133477"/>
                  </a:lnTo>
                  <a:lnTo>
                    <a:pt x="364210" y="133477"/>
                  </a:lnTo>
                  <a:lnTo>
                    <a:pt x="367817" y="132969"/>
                  </a:lnTo>
                  <a:lnTo>
                    <a:pt x="373964" y="131191"/>
                  </a:lnTo>
                  <a:lnTo>
                    <a:pt x="376694" y="130175"/>
                  </a:lnTo>
                  <a:lnTo>
                    <a:pt x="379069" y="128905"/>
                  </a:lnTo>
                  <a:lnTo>
                    <a:pt x="381088" y="127889"/>
                  </a:lnTo>
                  <a:lnTo>
                    <a:pt x="383159" y="126492"/>
                  </a:lnTo>
                  <a:lnTo>
                    <a:pt x="385330" y="124841"/>
                  </a:lnTo>
                  <a:lnTo>
                    <a:pt x="387489" y="123063"/>
                  </a:lnTo>
                  <a:lnTo>
                    <a:pt x="389140" y="121793"/>
                  </a:lnTo>
                  <a:lnTo>
                    <a:pt x="390410" y="120777"/>
                  </a:lnTo>
                  <a:lnTo>
                    <a:pt x="390410" y="130810"/>
                  </a:lnTo>
                  <a:lnTo>
                    <a:pt x="404507" y="130810"/>
                  </a:lnTo>
                  <a:lnTo>
                    <a:pt x="404507" y="120777"/>
                  </a:lnTo>
                  <a:lnTo>
                    <a:pt x="404507" y="118745"/>
                  </a:lnTo>
                  <a:lnTo>
                    <a:pt x="404507" y="81534"/>
                  </a:lnTo>
                  <a:lnTo>
                    <a:pt x="404507" y="60960"/>
                  </a:lnTo>
                  <a:close/>
                </a:path>
                <a:path w="624840" h="1941829">
                  <a:moveTo>
                    <a:pt x="444639" y="0"/>
                  </a:moveTo>
                  <a:lnTo>
                    <a:pt x="430415" y="0"/>
                  </a:lnTo>
                  <a:lnTo>
                    <a:pt x="430415" y="130810"/>
                  </a:lnTo>
                  <a:lnTo>
                    <a:pt x="444639" y="130810"/>
                  </a:lnTo>
                  <a:lnTo>
                    <a:pt x="444639" y="0"/>
                  </a:lnTo>
                  <a:close/>
                </a:path>
                <a:path w="624840" h="1941829">
                  <a:moveTo>
                    <a:pt x="533412" y="96901"/>
                  </a:moveTo>
                  <a:lnTo>
                    <a:pt x="531634" y="91440"/>
                  </a:lnTo>
                  <a:lnTo>
                    <a:pt x="524395" y="83185"/>
                  </a:lnTo>
                  <a:lnTo>
                    <a:pt x="519315" y="80264"/>
                  </a:lnTo>
                  <a:lnTo>
                    <a:pt x="512711" y="78613"/>
                  </a:lnTo>
                  <a:lnTo>
                    <a:pt x="510552" y="77978"/>
                  </a:lnTo>
                  <a:lnTo>
                    <a:pt x="507885" y="77470"/>
                  </a:lnTo>
                  <a:lnTo>
                    <a:pt x="504583" y="76708"/>
                  </a:lnTo>
                  <a:lnTo>
                    <a:pt x="501281" y="76073"/>
                  </a:lnTo>
                  <a:lnTo>
                    <a:pt x="498360" y="75438"/>
                  </a:lnTo>
                  <a:lnTo>
                    <a:pt x="495820" y="74676"/>
                  </a:lnTo>
                  <a:lnTo>
                    <a:pt x="490994" y="73533"/>
                  </a:lnTo>
                  <a:lnTo>
                    <a:pt x="487565" y="71882"/>
                  </a:lnTo>
                  <a:lnTo>
                    <a:pt x="485533" y="69977"/>
                  </a:lnTo>
                  <a:lnTo>
                    <a:pt x="483247" y="67945"/>
                  </a:lnTo>
                  <a:lnTo>
                    <a:pt x="482231" y="65024"/>
                  </a:lnTo>
                  <a:lnTo>
                    <a:pt x="482231" y="56769"/>
                  </a:lnTo>
                  <a:lnTo>
                    <a:pt x="484009" y="53467"/>
                  </a:lnTo>
                  <a:lnTo>
                    <a:pt x="491121" y="49149"/>
                  </a:lnTo>
                  <a:lnTo>
                    <a:pt x="495566" y="48006"/>
                  </a:lnTo>
                  <a:lnTo>
                    <a:pt x="505726" y="48006"/>
                  </a:lnTo>
                  <a:lnTo>
                    <a:pt x="511429" y="49149"/>
                  </a:lnTo>
                  <a:lnTo>
                    <a:pt x="511124" y="49149"/>
                  </a:lnTo>
                  <a:lnTo>
                    <a:pt x="521220" y="53086"/>
                  </a:lnTo>
                  <a:lnTo>
                    <a:pt x="525818" y="55753"/>
                  </a:lnTo>
                  <a:lnTo>
                    <a:pt x="529348" y="58547"/>
                  </a:lnTo>
                  <a:lnTo>
                    <a:pt x="530110" y="58547"/>
                  </a:lnTo>
                  <a:lnTo>
                    <a:pt x="530110" y="48006"/>
                  </a:lnTo>
                  <a:lnTo>
                    <a:pt x="530110" y="41656"/>
                  </a:lnTo>
                  <a:lnTo>
                    <a:pt x="526681" y="39751"/>
                  </a:lnTo>
                  <a:lnTo>
                    <a:pt x="522363" y="38100"/>
                  </a:lnTo>
                  <a:lnTo>
                    <a:pt x="512419" y="35433"/>
                  </a:lnTo>
                  <a:lnTo>
                    <a:pt x="512953" y="35433"/>
                  </a:lnTo>
                  <a:lnTo>
                    <a:pt x="506869" y="34671"/>
                  </a:lnTo>
                  <a:lnTo>
                    <a:pt x="496455" y="34671"/>
                  </a:lnTo>
                  <a:lnTo>
                    <a:pt x="491502" y="35433"/>
                  </a:lnTo>
                  <a:lnTo>
                    <a:pt x="482866" y="38481"/>
                  </a:lnTo>
                  <a:lnTo>
                    <a:pt x="479183" y="40513"/>
                  </a:lnTo>
                  <a:lnTo>
                    <a:pt x="476389" y="43180"/>
                  </a:lnTo>
                  <a:lnTo>
                    <a:pt x="473468" y="45847"/>
                  </a:lnTo>
                  <a:lnTo>
                    <a:pt x="471932" y="48006"/>
                  </a:lnTo>
                  <a:lnTo>
                    <a:pt x="471195" y="49149"/>
                  </a:lnTo>
                  <a:lnTo>
                    <a:pt x="469912" y="52324"/>
                  </a:lnTo>
                  <a:lnTo>
                    <a:pt x="468388" y="55753"/>
                  </a:lnTo>
                  <a:lnTo>
                    <a:pt x="467753" y="59436"/>
                  </a:lnTo>
                  <a:lnTo>
                    <a:pt x="467753" y="69469"/>
                  </a:lnTo>
                  <a:lnTo>
                    <a:pt x="500786" y="91440"/>
                  </a:lnTo>
                  <a:lnTo>
                    <a:pt x="502932" y="91948"/>
                  </a:lnTo>
                  <a:lnTo>
                    <a:pt x="510425" y="93853"/>
                  </a:lnTo>
                  <a:lnTo>
                    <a:pt x="514108" y="95377"/>
                  </a:lnTo>
                  <a:lnTo>
                    <a:pt x="517918" y="99187"/>
                  </a:lnTo>
                  <a:lnTo>
                    <a:pt x="518807" y="102108"/>
                  </a:lnTo>
                  <a:lnTo>
                    <a:pt x="518807" y="110617"/>
                  </a:lnTo>
                  <a:lnTo>
                    <a:pt x="505091" y="119761"/>
                  </a:lnTo>
                  <a:lnTo>
                    <a:pt x="493788" y="119761"/>
                  </a:lnTo>
                  <a:lnTo>
                    <a:pt x="488581" y="118618"/>
                  </a:lnTo>
                  <a:lnTo>
                    <a:pt x="482993" y="116332"/>
                  </a:lnTo>
                  <a:lnTo>
                    <a:pt x="477532" y="114173"/>
                  </a:lnTo>
                  <a:lnTo>
                    <a:pt x="472579" y="111252"/>
                  </a:lnTo>
                  <a:lnTo>
                    <a:pt x="468134" y="107442"/>
                  </a:lnTo>
                  <a:lnTo>
                    <a:pt x="467372" y="107442"/>
                  </a:lnTo>
                  <a:lnTo>
                    <a:pt x="467372" y="125222"/>
                  </a:lnTo>
                  <a:lnTo>
                    <a:pt x="470801" y="127127"/>
                  </a:lnTo>
                  <a:lnTo>
                    <a:pt x="475246" y="128905"/>
                  </a:lnTo>
                  <a:lnTo>
                    <a:pt x="485660" y="132207"/>
                  </a:lnTo>
                  <a:lnTo>
                    <a:pt x="491375" y="133096"/>
                  </a:lnTo>
                  <a:lnTo>
                    <a:pt x="497725" y="133096"/>
                  </a:lnTo>
                  <a:lnTo>
                    <a:pt x="529780" y="119761"/>
                  </a:lnTo>
                  <a:lnTo>
                    <a:pt x="530237" y="119380"/>
                  </a:lnTo>
                  <a:lnTo>
                    <a:pt x="533412" y="112268"/>
                  </a:lnTo>
                  <a:lnTo>
                    <a:pt x="533412" y="96901"/>
                  </a:lnTo>
                  <a:close/>
                </a:path>
                <a:path w="624840" h="1941829">
                  <a:moveTo>
                    <a:pt x="624471" y="76962"/>
                  </a:moveTo>
                  <a:lnTo>
                    <a:pt x="624255" y="73533"/>
                  </a:lnTo>
                  <a:lnTo>
                    <a:pt x="623887" y="67297"/>
                  </a:lnTo>
                  <a:lnTo>
                    <a:pt x="622160" y="58826"/>
                  </a:lnTo>
                  <a:lnTo>
                    <a:pt x="619264" y="51523"/>
                  </a:lnTo>
                  <a:lnTo>
                    <a:pt x="616534" y="47371"/>
                  </a:lnTo>
                  <a:lnTo>
                    <a:pt x="615200" y="45339"/>
                  </a:lnTo>
                  <a:lnTo>
                    <a:pt x="610628" y="40995"/>
                  </a:lnTo>
                  <a:lnTo>
                    <a:pt x="610628" y="65024"/>
                  </a:lnTo>
                  <a:lnTo>
                    <a:pt x="610628" y="73533"/>
                  </a:lnTo>
                  <a:lnTo>
                    <a:pt x="562229" y="73533"/>
                  </a:lnTo>
                  <a:lnTo>
                    <a:pt x="562762" y="67297"/>
                  </a:lnTo>
                  <a:lnTo>
                    <a:pt x="580529" y="47371"/>
                  </a:lnTo>
                  <a:lnTo>
                    <a:pt x="595642" y="47371"/>
                  </a:lnTo>
                  <a:lnTo>
                    <a:pt x="601357" y="49530"/>
                  </a:lnTo>
                  <a:lnTo>
                    <a:pt x="608723" y="58674"/>
                  </a:lnTo>
                  <a:lnTo>
                    <a:pt x="610628" y="65024"/>
                  </a:lnTo>
                  <a:lnTo>
                    <a:pt x="610628" y="40995"/>
                  </a:lnTo>
                  <a:lnTo>
                    <a:pt x="610120" y="40513"/>
                  </a:lnTo>
                  <a:lnTo>
                    <a:pt x="604050" y="37058"/>
                  </a:lnTo>
                  <a:lnTo>
                    <a:pt x="596976" y="34988"/>
                  </a:lnTo>
                  <a:lnTo>
                    <a:pt x="588911" y="34290"/>
                  </a:lnTo>
                  <a:lnTo>
                    <a:pt x="580110" y="35128"/>
                  </a:lnTo>
                  <a:lnTo>
                    <a:pt x="550595" y="63779"/>
                  </a:lnTo>
                  <a:lnTo>
                    <a:pt x="547763" y="84455"/>
                  </a:lnTo>
                  <a:lnTo>
                    <a:pt x="548500" y="95415"/>
                  </a:lnTo>
                  <a:lnTo>
                    <a:pt x="573684" y="129832"/>
                  </a:lnTo>
                  <a:lnTo>
                    <a:pt x="582574" y="132207"/>
                  </a:lnTo>
                  <a:lnTo>
                    <a:pt x="582790" y="132207"/>
                  </a:lnTo>
                  <a:lnTo>
                    <a:pt x="592467" y="132969"/>
                  </a:lnTo>
                  <a:lnTo>
                    <a:pt x="597928" y="132969"/>
                  </a:lnTo>
                  <a:lnTo>
                    <a:pt x="603135" y="132207"/>
                  </a:lnTo>
                  <a:lnTo>
                    <a:pt x="613168" y="129159"/>
                  </a:lnTo>
                  <a:lnTo>
                    <a:pt x="618121" y="127381"/>
                  </a:lnTo>
                  <a:lnTo>
                    <a:pt x="622820" y="125095"/>
                  </a:lnTo>
                  <a:lnTo>
                    <a:pt x="622820" y="119253"/>
                  </a:lnTo>
                  <a:lnTo>
                    <a:pt x="622820" y="107823"/>
                  </a:lnTo>
                  <a:lnTo>
                    <a:pt x="622058" y="107823"/>
                  </a:lnTo>
                  <a:lnTo>
                    <a:pt x="619645" y="110363"/>
                  </a:lnTo>
                  <a:lnTo>
                    <a:pt x="615454" y="112776"/>
                  </a:lnTo>
                  <a:lnTo>
                    <a:pt x="609612" y="115443"/>
                  </a:lnTo>
                  <a:lnTo>
                    <a:pt x="603770" y="117983"/>
                  </a:lnTo>
                  <a:lnTo>
                    <a:pt x="598055" y="119253"/>
                  </a:lnTo>
                  <a:lnTo>
                    <a:pt x="587895" y="119253"/>
                  </a:lnTo>
                  <a:lnTo>
                    <a:pt x="562241" y="91313"/>
                  </a:lnTo>
                  <a:lnTo>
                    <a:pt x="562241" y="85471"/>
                  </a:lnTo>
                  <a:lnTo>
                    <a:pt x="624471" y="85471"/>
                  </a:lnTo>
                  <a:lnTo>
                    <a:pt x="624471" y="76962"/>
                  </a:lnTo>
                  <a:close/>
                </a:path>
              </a:pathLst>
            </a:custGeom>
            <a:solidFill>
              <a:srgbClr val="E3DF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3022" y="2719197"/>
              <a:ext cx="835786" cy="16078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2182" y="2714498"/>
              <a:ext cx="813816" cy="13347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348228" y="2714498"/>
              <a:ext cx="945515" cy="165735"/>
            </a:xfrm>
            <a:custGeom>
              <a:avLst/>
              <a:gdLst/>
              <a:ahLst/>
              <a:cxnLst/>
              <a:rect l="l" t="t" r="r" b="b"/>
              <a:pathLst>
                <a:path w="945514" h="165735">
                  <a:moveTo>
                    <a:pt x="15494" y="36830"/>
                  </a:moveTo>
                  <a:lnTo>
                    <a:pt x="0" y="36830"/>
                  </a:lnTo>
                  <a:lnTo>
                    <a:pt x="34036" y="130810"/>
                  </a:lnTo>
                  <a:lnTo>
                    <a:pt x="48387" y="130810"/>
                  </a:lnTo>
                  <a:lnTo>
                    <a:pt x="55358" y="111633"/>
                  </a:lnTo>
                  <a:lnTo>
                    <a:pt x="41656" y="111633"/>
                  </a:lnTo>
                  <a:lnTo>
                    <a:pt x="15494" y="36830"/>
                  </a:lnTo>
                  <a:close/>
                </a:path>
                <a:path w="945514" h="165735">
                  <a:moveTo>
                    <a:pt x="82550" y="36830"/>
                  </a:moveTo>
                  <a:lnTo>
                    <a:pt x="67563" y="36830"/>
                  </a:lnTo>
                  <a:lnTo>
                    <a:pt x="41656" y="111633"/>
                  </a:lnTo>
                  <a:lnTo>
                    <a:pt x="55358" y="111633"/>
                  </a:lnTo>
                  <a:lnTo>
                    <a:pt x="82550" y="36830"/>
                  </a:lnTo>
                  <a:close/>
                </a:path>
                <a:path w="945514" h="165735">
                  <a:moveTo>
                    <a:pt x="114554" y="36830"/>
                  </a:moveTo>
                  <a:lnTo>
                    <a:pt x="100202" y="36830"/>
                  </a:lnTo>
                  <a:lnTo>
                    <a:pt x="100283" y="99187"/>
                  </a:lnTo>
                  <a:lnTo>
                    <a:pt x="100680" y="106045"/>
                  </a:lnTo>
                  <a:lnTo>
                    <a:pt x="102057" y="113030"/>
                  </a:lnTo>
                  <a:lnTo>
                    <a:pt x="102092" y="113204"/>
                  </a:lnTo>
                  <a:lnTo>
                    <a:pt x="104435" y="119310"/>
                  </a:lnTo>
                  <a:lnTo>
                    <a:pt x="107696" y="124333"/>
                  </a:lnTo>
                  <a:lnTo>
                    <a:pt x="112649" y="130428"/>
                  </a:lnTo>
                  <a:lnTo>
                    <a:pt x="119507" y="133476"/>
                  </a:lnTo>
                  <a:lnTo>
                    <a:pt x="133731" y="133476"/>
                  </a:lnTo>
                  <a:lnTo>
                    <a:pt x="156718" y="120396"/>
                  </a:lnTo>
                  <a:lnTo>
                    <a:pt x="170942" y="120396"/>
                  </a:lnTo>
                  <a:lnTo>
                    <a:pt x="170942" y="118363"/>
                  </a:lnTo>
                  <a:lnTo>
                    <a:pt x="128270" y="118363"/>
                  </a:lnTo>
                  <a:lnTo>
                    <a:pt x="125095" y="117856"/>
                  </a:lnTo>
                  <a:lnTo>
                    <a:pt x="120776" y="115570"/>
                  </a:lnTo>
                  <a:lnTo>
                    <a:pt x="118999" y="113792"/>
                  </a:lnTo>
                  <a:lnTo>
                    <a:pt x="117729" y="111251"/>
                  </a:lnTo>
                  <a:lnTo>
                    <a:pt x="116332" y="108838"/>
                  </a:lnTo>
                  <a:lnTo>
                    <a:pt x="115443" y="106045"/>
                  </a:lnTo>
                  <a:lnTo>
                    <a:pt x="114681" y="99187"/>
                  </a:lnTo>
                  <a:lnTo>
                    <a:pt x="114554" y="36830"/>
                  </a:lnTo>
                  <a:close/>
                </a:path>
                <a:path w="945514" h="165735">
                  <a:moveTo>
                    <a:pt x="170942" y="120396"/>
                  </a:moveTo>
                  <a:lnTo>
                    <a:pt x="156718" y="120396"/>
                  </a:lnTo>
                  <a:lnTo>
                    <a:pt x="156718" y="130810"/>
                  </a:lnTo>
                  <a:lnTo>
                    <a:pt x="170942" y="130810"/>
                  </a:lnTo>
                  <a:lnTo>
                    <a:pt x="170942" y="120396"/>
                  </a:lnTo>
                  <a:close/>
                </a:path>
                <a:path w="945514" h="165735">
                  <a:moveTo>
                    <a:pt x="170942" y="36830"/>
                  </a:moveTo>
                  <a:lnTo>
                    <a:pt x="156718" y="36830"/>
                  </a:lnTo>
                  <a:lnTo>
                    <a:pt x="156718" y="107061"/>
                  </a:lnTo>
                  <a:lnTo>
                    <a:pt x="152908" y="110362"/>
                  </a:lnTo>
                  <a:lnTo>
                    <a:pt x="148844" y="113030"/>
                  </a:lnTo>
                  <a:lnTo>
                    <a:pt x="144525" y="115188"/>
                  </a:lnTo>
                  <a:lnTo>
                    <a:pt x="140081" y="117348"/>
                  </a:lnTo>
                  <a:lnTo>
                    <a:pt x="136144" y="118363"/>
                  </a:lnTo>
                  <a:lnTo>
                    <a:pt x="170942" y="118363"/>
                  </a:lnTo>
                  <a:lnTo>
                    <a:pt x="170942" y="36830"/>
                  </a:lnTo>
                  <a:close/>
                </a:path>
                <a:path w="945514" h="165735">
                  <a:moveTo>
                    <a:pt x="211200" y="0"/>
                  </a:moveTo>
                  <a:lnTo>
                    <a:pt x="196976" y="0"/>
                  </a:lnTo>
                  <a:lnTo>
                    <a:pt x="196976" y="130810"/>
                  </a:lnTo>
                  <a:lnTo>
                    <a:pt x="211200" y="130810"/>
                  </a:lnTo>
                  <a:lnTo>
                    <a:pt x="211200" y="0"/>
                  </a:lnTo>
                  <a:close/>
                </a:path>
                <a:path w="945514" h="165735">
                  <a:moveTo>
                    <a:pt x="253746" y="36830"/>
                  </a:moveTo>
                  <a:lnTo>
                    <a:pt x="239522" y="36830"/>
                  </a:lnTo>
                  <a:lnTo>
                    <a:pt x="239522" y="130810"/>
                  </a:lnTo>
                  <a:lnTo>
                    <a:pt x="253746" y="130810"/>
                  </a:lnTo>
                  <a:lnTo>
                    <a:pt x="253746" y="60706"/>
                  </a:lnTo>
                  <a:lnTo>
                    <a:pt x="257683" y="57403"/>
                  </a:lnTo>
                  <a:lnTo>
                    <a:pt x="261747" y="54610"/>
                  </a:lnTo>
                  <a:lnTo>
                    <a:pt x="265938" y="52577"/>
                  </a:lnTo>
                  <a:lnTo>
                    <a:pt x="270256" y="50419"/>
                  </a:lnTo>
                  <a:lnTo>
                    <a:pt x="274320" y="49275"/>
                  </a:lnTo>
                  <a:lnTo>
                    <a:pt x="306474" y="49275"/>
                  </a:lnTo>
                  <a:lnTo>
                    <a:pt x="306189" y="48508"/>
                  </a:lnTo>
                  <a:lnTo>
                    <a:pt x="305479" y="47371"/>
                  </a:lnTo>
                  <a:lnTo>
                    <a:pt x="253746" y="47371"/>
                  </a:lnTo>
                  <a:lnTo>
                    <a:pt x="253746" y="36830"/>
                  </a:lnTo>
                  <a:close/>
                </a:path>
                <a:path w="945514" h="165735">
                  <a:moveTo>
                    <a:pt x="306474" y="49275"/>
                  </a:moveTo>
                  <a:lnTo>
                    <a:pt x="281939" y="49275"/>
                  </a:lnTo>
                  <a:lnTo>
                    <a:pt x="284988" y="49911"/>
                  </a:lnTo>
                  <a:lnTo>
                    <a:pt x="289813" y="52197"/>
                  </a:lnTo>
                  <a:lnTo>
                    <a:pt x="295275" y="65150"/>
                  </a:lnTo>
                  <a:lnTo>
                    <a:pt x="295783" y="68961"/>
                  </a:lnTo>
                  <a:lnTo>
                    <a:pt x="296037" y="73025"/>
                  </a:lnTo>
                  <a:lnTo>
                    <a:pt x="296037" y="130810"/>
                  </a:lnTo>
                  <a:lnTo>
                    <a:pt x="310261" y="130810"/>
                  </a:lnTo>
                  <a:lnTo>
                    <a:pt x="310211" y="68961"/>
                  </a:lnTo>
                  <a:lnTo>
                    <a:pt x="309808" y="61704"/>
                  </a:lnTo>
                  <a:lnTo>
                    <a:pt x="308454" y="54610"/>
                  </a:lnTo>
                  <a:lnTo>
                    <a:pt x="306474" y="49275"/>
                  </a:lnTo>
                  <a:close/>
                </a:path>
                <a:path w="945514" h="165735">
                  <a:moveTo>
                    <a:pt x="291338" y="34289"/>
                  </a:moveTo>
                  <a:lnTo>
                    <a:pt x="277113" y="34289"/>
                  </a:lnTo>
                  <a:lnTo>
                    <a:pt x="272288" y="35433"/>
                  </a:lnTo>
                  <a:lnTo>
                    <a:pt x="267588" y="37719"/>
                  </a:lnTo>
                  <a:lnTo>
                    <a:pt x="262763" y="40005"/>
                  </a:lnTo>
                  <a:lnTo>
                    <a:pt x="258191" y="43180"/>
                  </a:lnTo>
                  <a:lnTo>
                    <a:pt x="253746" y="47371"/>
                  </a:lnTo>
                  <a:lnTo>
                    <a:pt x="305479" y="47371"/>
                  </a:lnTo>
                  <a:lnTo>
                    <a:pt x="303022" y="43434"/>
                  </a:lnTo>
                  <a:lnTo>
                    <a:pt x="298196" y="37337"/>
                  </a:lnTo>
                  <a:lnTo>
                    <a:pt x="291338" y="34289"/>
                  </a:lnTo>
                  <a:close/>
                </a:path>
                <a:path w="945514" h="165735">
                  <a:moveTo>
                    <a:pt x="372237" y="34289"/>
                  </a:moveTo>
                  <a:lnTo>
                    <a:pt x="337464" y="55183"/>
                  </a:lnTo>
                  <a:lnTo>
                    <a:pt x="331088" y="84455"/>
                  </a:lnTo>
                  <a:lnTo>
                    <a:pt x="331827" y="95410"/>
                  </a:lnTo>
                  <a:lnTo>
                    <a:pt x="334008" y="104901"/>
                  </a:lnTo>
                  <a:lnTo>
                    <a:pt x="334041" y="105044"/>
                  </a:lnTo>
                  <a:lnTo>
                    <a:pt x="365902" y="132207"/>
                  </a:lnTo>
                  <a:lnTo>
                    <a:pt x="366115" y="132207"/>
                  </a:lnTo>
                  <a:lnTo>
                    <a:pt x="375793" y="132969"/>
                  </a:lnTo>
                  <a:lnTo>
                    <a:pt x="381254" y="132969"/>
                  </a:lnTo>
                  <a:lnTo>
                    <a:pt x="386461" y="132207"/>
                  </a:lnTo>
                  <a:lnTo>
                    <a:pt x="396494" y="129159"/>
                  </a:lnTo>
                  <a:lnTo>
                    <a:pt x="401447" y="127381"/>
                  </a:lnTo>
                  <a:lnTo>
                    <a:pt x="406146" y="125095"/>
                  </a:lnTo>
                  <a:lnTo>
                    <a:pt x="406146" y="119252"/>
                  </a:lnTo>
                  <a:lnTo>
                    <a:pt x="371221" y="119252"/>
                  </a:lnTo>
                  <a:lnTo>
                    <a:pt x="367284" y="118490"/>
                  </a:lnTo>
                  <a:lnTo>
                    <a:pt x="349593" y="105044"/>
                  </a:lnTo>
                  <a:lnTo>
                    <a:pt x="349504" y="104901"/>
                  </a:lnTo>
                  <a:lnTo>
                    <a:pt x="347852" y="100584"/>
                  </a:lnTo>
                  <a:lnTo>
                    <a:pt x="346329" y="96265"/>
                  </a:lnTo>
                  <a:lnTo>
                    <a:pt x="345567" y="91312"/>
                  </a:lnTo>
                  <a:lnTo>
                    <a:pt x="345567" y="85471"/>
                  </a:lnTo>
                  <a:lnTo>
                    <a:pt x="407797" y="85471"/>
                  </a:lnTo>
                  <a:lnTo>
                    <a:pt x="407797" y="76962"/>
                  </a:lnTo>
                  <a:lnTo>
                    <a:pt x="407593" y="73523"/>
                  </a:lnTo>
                  <a:lnTo>
                    <a:pt x="345556" y="73523"/>
                  </a:lnTo>
                  <a:lnTo>
                    <a:pt x="346094" y="67288"/>
                  </a:lnTo>
                  <a:lnTo>
                    <a:pt x="363855" y="47371"/>
                  </a:lnTo>
                  <a:lnTo>
                    <a:pt x="399866" y="47371"/>
                  </a:lnTo>
                  <a:lnTo>
                    <a:pt x="398525" y="45338"/>
                  </a:lnTo>
                  <a:lnTo>
                    <a:pt x="393453" y="40505"/>
                  </a:lnTo>
                  <a:lnTo>
                    <a:pt x="387381" y="37052"/>
                  </a:lnTo>
                  <a:lnTo>
                    <a:pt x="380309" y="34980"/>
                  </a:lnTo>
                  <a:lnTo>
                    <a:pt x="372237" y="34289"/>
                  </a:lnTo>
                  <a:close/>
                </a:path>
                <a:path w="945514" h="165735">
                  <a:moveTo>
                    <a:pt x="406146" y="107823"/>
                  </a:moveTo>
                  <a:lnTo>
                    <a:pt x="405384" y="107823"/>
                  </a:lnTo>
                  <a:lnTo>
                    <a:pt x="402971" y="110362"/>
                  </a:lnTo>
                  <a:lnTo>
                    <a:pt x="398780" y="112775"/>
                  </a:lnTo>
                  <a:lnTo>
                    <a:pt x="392938" y="115443"/>
                  </a:lnTo>
                  <a:lnTo>
                    <a:pt x="387096" y="117983"/>
                  </a:lnTo>
                  <a:lnTo>
                    <a:pt x="381381" y="119252"/>
                  </a:lnTo>
                  <a:lnTo>
                    <a:pt x="406146" y="119252"/>
                  </a:lnTo>
                  <a:lnTo>
                    <a:pt x="406146" y="107823"/>
                  </a:lnTo>
                  <a:close/>
                </a:path>
                <a:path w="945514" h="165735">
                  <a:moveTo>
                    <a:pt x="399866" y="47371"/>
                  </a:moveTo>
                  <a:lnTo>
                    <a:pt x="378968" y="47371"/>
                  </a:lnTo>
                  <a:lnTo>
                    <a:pt x="384683" y="49530"/>
                  </a:lnTo>
                  <a:lnTo>
                    <a:pt x="392049" y="58674"/>
                  </a:lnTo>
                  <a:lnTo>
                    <a:pt x="393954" y="65024"/>
                  </a:lnTo>
                  <a:lnTo>
                    <a:pt x="393954" y="73523"/>
                  </a:lnTo>
                  <a:lnTo>
                    <a:pt x="407593" y="73523"/>
                  </a:lnTo>
                  <a:lnTo>
                    <a:pt x="407223" y="67288"/>
                  </a:lnTo>
                  <a:lnTo>
                    <a:pt x="405495" y="58816"/>
                  </a:lnTo>
                  <a:lnTo>
                    <a:pt x="402599" y="51512"/>
                  </a:lnTo>
                  <a:lnTo>
                    <a:pt x="399866" y="47371"/>
                  </a:lnTo>
                  <a:close/>
                </a:path>
                <a:path w="945514" h="165735">
                  <a:moveTo>
                    <a:pt x="442722" y="37211"/>
                  </a:moveTo>
                  <a:lnTo>
                    <a:pt x="428498" y="37211"/>
                  </a:lnTo>
                  <a:lnTo>
                    <a:pt x="428498" y="130810"/>
                  </a:lnTo>
                  <a:lnTo>
                    <a:pt x="442722" y="130810"/>
                  </a:lnTo>
                  <a:lnTo>
                    <a:pt x="442722" y="64135"/>
                  </a:lnTo>
                  <a:lnTo>
                    <a:pt x="446532" y="60706"/>
                  </a:lnTo>
                  <a:lnTo>
                    <a:pt x="450469" y="57912"/>
                  </a:lnTo>
                  <a:lnTo>
                    <a:pt x="458597" y="53594"/>
                  </a:lnTo>
                  <a:lnTo>
                    <a:pt x="462914" y="52577"/>
                  </a:lnTo>
                  <a:lnTo>
                    <a:pt x="481330" y="52577"/>
                  </a:lnTo>
                  <a:lnTo>
                    <a:pt x="481330" y="50800"/>
                  </a:lnTo>
                  <a:lnTo>
                    <a:pt x="442722" y="50800"/>
                  </a:lnTo>
                  <a:lnTo>
                    <a:pt x="442722" y="37211"/>
                  </a:lnTo>
                  <a:close/>
                </a:path>
                <a:path w="945514" h="165735">
                  <a:moveTo>
                    <a:pt x="481330" y="52577"/>
                  </a:moveTo>
                  <a:lnTo>
                    <a:pt x="470026" y="52577"/>
                  </a:lnTo>
                  <a:lnTo>
                    <a:pt x="472313" y="52705"/>
                  </a:lnTo>
                  <a:lnTo>
                    <a:pt x="476376" y="53212"/>
                  </a:lnTo>
                  <a:lnTo>
                    <a:pt x="478409" y="53594"/>
                  </a:lnTo>
                  <a:lnTo>
                    <a:pt x="480568" y="54101"/>
                  </a:lnTo>
                  <a:lnTo>
                    <a:pt x="481330" y="54101"/>
                  </a:lnTo>
                  <a:lnTo>
                    <a:pt x="481330" y="52577"/>
                  </a:lnTo>
                  <a:close/>
                </a:path>
                <a:path w="945514" h="165735">
                  <a:moveTo>
                    <a:pt x="477393" y="37211"/>
                  </a:moveTo>
                  <a:lnTo>
                    <a:pt x="464989" y="37211"/>
                  </a:lnTo>
                  <a:lnTo>
                    <a:pt x="462025" y="37973"/>
                  </a:lnTo>
                  <a:lnTo>
                    <a:pt x="457708" y="40005"/>
                  </a:lnTo>
                  <a:lnTo>
                    <a:pt x="453389" y="42163"/>
                  </a:lnTo>
                  <a:lnTo>
                    <a:pt x="448437" y="45720"/>
                  </a:lnTo>
                  <a:lnTo>
                    <a:pt x="442722" y="50800"/>
                  </a:lnTo>
                  <a:lnTo>
                    <a:pt x="481330" y="50800"/>
                  </a:lnTo>
                  <a:lnTo>
                    <a:pt x="481330" y="37973"/>
                  </a:lnTo>
                  <a:lnTo>
                    <a:pt x="482117" y="37973"/>
                  </a:lnTo>
                  <a:lnTo>
                    <a:pt x="477393" y="37211"/>
                  </a:lnTo>
                  <a:close/>
                </a:path>
                <a:path w="945514" h="165735">
                  <a:moveTo>
                    <a:pt x="555934" y="48513"/>
                  </a:moveTo>
                  <a:lnTo>
                    <a:pt x="526034" y="48513"/>
                  </a:lnTo>
                  <a:lnTo>
                    <a:pt x="528955" y="48768"/>
                  </a:lnTo>
                  <a:lnTo>
                    <a:pt x="531749" y="49275"/>
                  </a:lnTo>
                  <a:lnTo>
                    <a:pt x="545592" y="62737"/>
                  </a:lnTo>
                  <a:lnTo>
                    <a:pt x="545592" y="68707"/>
                  </a:lnTo>
                  <a:lnTo>
                    <a:pt x="537337" y="69214"/>
                  </a:lnTo>
                  <a:lnTo>
                    <a:pt x="529589" y="69850"/>
                  </a:lnTo>
                  <a:lnTo>
                    <a:pt x="491998" y="86233"/>
                  </a:lnTo>
                  <a:lnTo>
                    <a:pt x="487934" y="96393"/>
                  </a:lnTo>
                  <a:lnTo>
                    <a:pt x="487934" y="112268"/>
                  </a:lnTo>
                  <a:lnTo>
                    <a:pt x="490600" y="119380"/>
                  </a:lnTo>
                  <a:lnTo>
                    <a:pt x="495813" y="124840"/>
                  </a:lnTo>
                  <a:lnTo>
                    <a:pt x="501142" y="130556"/>
                  </a:lnTo>
                  <a:lnTo>
                    <a:pt x="507619" y="133476"/>
                  </a:lnTo>
                  <a:lnTo>
                    <a:pt x="519430" y="133476"/>
                  </a:lnTo>
                  <a:lnTo>
                    <a:pt x="522986" y="132969"/>
                  </a:lnTo>
                  <a:lnTo>
                    <a:pt x="526034" y="132080"/>
                  </a:lnTo>
                  <a:lnTo>
                    <a:pt x="529209" y="131190"/>
                  </a:lnTo>
                  <a:lnTo>
                    <a:pt x="531876" y="130175"/>
                  </a:lnTo>
                  <a:lnTo>
                    <a:pt x="534288" y="128905"/>
                  </a:lnTo>
                  <a:lnTo>
                    <a:pt x="536321" y="127888"/>
                  </a:lnTo>
                  <a:lnTo>
                    <a:pt x="538352" y="126492"/>
                  </a:lnTo>
                  <a:lnTo>
                    <a:pt x="540512" y="124840"/>
                  </a:lnTo>
                  <a:lnTo>
                    <a:pt x="542671" y="123062"/>
                  </a:lnTo>
                  <a:lnTo>
                    <a:pt x="544322" y="121793"/>
                  </a:lnTo>
                  <a:lnTo>
                    <a:pt x="545592" y="120776"/>
                  </a:lnTo>
                  <a:lnTo>
                    <a:pt x="559688" y="120776"/>
                  </a:lnTo>
                  <a:lnTo>
                    <a:pt x="559688" y="118745"/>
                  </a:lnTo>
                  <a:lnTo>
                    <a:pt x="514350" y="118745"/>
                  </a:lnTo>
                  <a:lnTo>
                    <a:pt x="509905" y="117348"/>
                  </a:lnTo>
                  <a:lnTo>
                    <a:pt x="506984" y="114681"/>
                  </a:lnTo>
                  <a:lnTo>
                    <a:pt x="504063" y="111887"/>
                  </a:lnTo>
                  <a:lnTo>
                    <a:pt x="502666" y="107823"/>
                  </a:lnTo>
                  <a:lnTo>
                    <a:pt x="502666" y="97662"/>
                  </a:lnTo>
                  <a:lnTo>
                    <a:pt x="536194" y="82296"/>
                  </a:lnTo>
                  <a:lnTo>
                    <a:pt x="540004" y="81914"/>
                  </a:lnTo>
                  <a:lnTo>
                    <a:pt x="539114" y="81914"/>
                  </a:lnTo>
                  <a:lnTo>
                    <a:pt x="545592" y="81534"/>
                  </a:lnTo>
                  <a:lnTo>
                    <a:pt x="559688" y="81534"/>
                  </a:lnTo>
                  <a:lnTo>
                    <a:pt x="559688" y="60960"/>
                  </a:lnTo>
                  <a:lnTo>
                    <a:pt x="558926" y="56007"/>
                  </a:lnTo>
                  <a:lnTo>
                    <a:pt x="557276" y="51815"/>
                  </a:lnTo>
                  <a:lnTo>
                    <a:pt x="556037" y="48768"/>
                  </a:lnTo>
                  <a:lnTo>
                    <a:pt x="555934" y="48513"/>
                  </a:lnTo>
                  <a:close/>
                </a:path>
                <a:path w="945514" h="165735">
                  <a:moveTo>
                    <a:pt x="559688" y="120776"/>
                  </a:moveTo>
                  <a:lnTo>
                    <a:pt x="545592" y="120776"/>
                  </a:lnTo>
                  <a:lnTo>
                    <a:pt x="545592" y="130810"/>
                  </a:lnTo>
                  <a:lnTo>
                    <a:pt x="559688" y="130810"/>
                  </a:lnTo>
                  <a:lnTo>
                    <a:pt x="559688" y="120776"/>
                  </a:lnTo>
                  <a:close/>
                </a:path>
                <a:path w="945514" h="165735">
                  <a:moveTo>
                    <a:pt x="559688" y="81534"/>
                  </a:moveTo>
                  <a:lnTo>
                    <a:pt x="545592" y="81534"/>
                  </a:lnTo>
                  <a:lnTo>
                    <a:pt x="545592" y="107823"/>
                  </a:lnTo>
                  <a:lnTo>
                    <a:pt x="545443" y="107823"/>
                  </a:lnTo>
                  <a:lnTo>
                    <a:pt x="542036" y="110744"/>
                  </a:lnTo>
                  <a:lnTo>
                    <a:pt x="538226" y="113284"/>
                  </a:lnTo>
                  <a:lnTo>
                    <a:pt x="534035" y="115443"/>
                  </a:lnTo>
                  <a:lnTo>
                    <a:pt x="529971" y="117601"/>
                  </a:lnTo>
                  <a:lnTo>
                    <a:pt x="525399" y="118745"/>
                  </a:lnTo>
                  <a:lnTo>
                    <a:pt x="559688" y="118745"/>
                  </a:lnTo>
                  <a:lnTo>
                    <a:pt x="559688" y="81534"/>
                  </a:lnTo>
                  <a:close/>
                </a:path>
                <a:path w="945514" h="165735">
                  <a:moveTo>
                    <a:pt x="528955" y="34671"/>
                  </a:moveTo>
                  <a:lnTo>
                    <a:pt x="517906" y="34671"/>
                  </a:lnTo>
                  <a:lnTo>
                    <a:pt x="512699" y="35178"/>
                  </a:lnTo>
                  <a:lnTo>
                    <a:pt x="506825" y="36195"/>
                  </a:lnTo>
                  <a:lnTo>
                    <a:pt x="502158" y="37084"/>
                  </a:lnTo>
                  <a:lnTo>
                    <a:pt x="498221" y="38100"/>
                  </a:lnTo>
                  <a:lnTo>
                    <a:pt x="495426" y="38862"/>
                  </a:lnTo>
                  <a:lnTo>
                    <a:pt x="495426" y="54990"/>
                  </a:lnTo>
                  <a:lnTo>
                    <a:pt x="496188" y="54990"/>
                  </a:lnTo>
                  <a:lnTo>
                    <a:pt x="501014" y="52832"/>
                  </a:lnTo>
                  <a:lnTo>
                    <a:pt x="505841" y="51308"/>
                  </a:lnTo>
                  <a:lnTo>
                    <a:pt x="510413" y="50164"/>
                  </a:lnTo>
                  <a:lnTo>
                    <a:pt x="514413" y="49275"/>
                  </a:lnTo>
                  <a:lnTo>
                    <a:pt x="514146" y="49275"/>
                  </a:lnTo>
                  <a:lnTo>
                    <a:pt x="519175" y="48513"/>
                  </a:lnTo>
                  <a:lnTo>
                    <a:pt x="555934" y="48513"/>
                  </a:lnTo>
                  <a:lnTo>
                    <a:pt x="555625" y="47751"/>
                  </a:lnTo>
                  <a:lnTo>
                    <a:pt x="534162" y="35178"/>
                  </a:lnTo>
                  <a:lnTo>
                    <a:pt x="528955" y="34671"/>
                  </a:lnTo>
                  <a:close/>
                </a:path>
                <a:path w="945514" h="165735">
                  <a:moveTo>
                    <a:pt x="643015" y="126492"/>
                  </a:moveTo>
                  <a:lnTo>
                    <a:pt x="599694" y="126492"/>
                  </a:lnTo>
                  <a:lnTo>
                    <a:pt x="603250" y="128524"/>
                  </a:lnTo>
                  <a:lnTo>
                    <a:pt x="606679" y="130301"/>
                  </a:lnTo>
                  <a:lnTo>
                    <a:pt x="610362" y="131572"/>
                  </a:lnTo>
                  <a:lnTo>
                    <a:pt x="613918" y="132842"/>
                  </a:lnTo>
                  <a:lnTo>
                    <a:pt x="618109" y="133476"/>
                  </a:lnTo>
                  <a:lnTo>
                    <a:pt x="628014" y="133476"/>
                  </a:lnTo>
                  <a:lnTo>
                    <a:pt x="632713" y="132334"/>
                  </a:lnTo>
                  <a:lnTo>
                    <a:pt x="637032" y="130048"/>
                  </a:lnTo>
                  <a:lnTo>
                    <a:pt x="641350" y="127888"/>
                  </a:lnTo>
                  <a:lnTo>
                    <a:pt x="643015" y="126492"/>
                  </a:lnTo>
                  <a:close/>
                </a:path>
                <a:path w="945514" h="165735">
                  <a:moveTo>
                    <a:pt x="599694" y="0"/>
                  </a:moveTo>
                  <a:lnTo>
                    <a:pt x="585470" y="0"/>
                  </a:lnTo>
                  <a:lnTo>
                    <a:pt x="585470" y="130810"/>
                  </a:lnTo>
                  <a:lnTo>
                    <a:pt x="598805" y="130810"/>
                  </a:lnTo>
                  <a:lnTo>
                    <a:pt x="599694" y="126492"/>
                  </a:lnTo>
                  <a:lnTo>
                    <a:pt x="643015" y="126492"/>
                  </a:lnTo>
                  <a:lnTo>
                    <a:pt x="645287" y="124587"/>
                  </a:lnTo>
                  <a:lnTo>
                    <a:pt x="649538" y="119252"/>
                  </a:lnTo>
                  <a:lnTo>
                    <a:pt x="616331" y="119252"/>
                  </a:lnTo>
                  <a:lnTo>
                    <a:pt x="613029" y="118872"/>
                  </a:lnTo>
                  <a:lnTo>
                    <a:pt x="610108" y="117983"/>
                  </a:lnTo>
                  <a:lnTo>
                    <a:pt x="607187" y="117221"/>
                  </a:lnTo>
                  <a:lnTo>
                    <a:pt x="603758" y="115824"/>
                  </a:lnTo>
                  <a:lnTo>
                    <a:pt x="599694" y="113792"/>
                  </a:lnTo>
                  <a:lnTo>
                    <a:pt x="599694" y="60071"/>
                  </a:lnTo>
                  <a:lnTo>
                    <a:pt x="620013" y="49275"/>
                  </a:lnTo>
                  <a:lnTo>
                    <a:pt x="652411" y="49275"/>
                  </a:lnTo>
                  <a:lnTo>
                    <a:pt x="651256" y="47117"/>
                  </a:lnTo>
                  <a:lnTo>
                    <a:pt x="650934" y="46736"/>
                  </a:lnTo>
                  <a:lnTo>
                    <a:pt x="599694" y="46736"/>
                  </a:lnTo>
                  <a:lnTo>
                    <a:pt x="599694" y="0"/>
                  </a:lnTo>
                  <a:close/>
                </a:path>
                <a:path w="945514" h="165735">
                  <a:moveTo>
                    <a:pt x="652411" y="49275"/>
                  </a:moveTo>
                  <a:lnTo>
                    <a:pt x="631571" y="49275"/>
                  </a:lnTo>
                  <a:lnTo>
                    <a:pt x="637136" y="52324"/>
                  </a:lnTo>
                  <a:lnTo>
                    <a:pt x="636976" y="52324"/>
                  </a:lnTo>
                  <a:lnTo>
                    <a:pt x="645160" y="83565"/>
                  </a:lnTo>
                  <a:lnTo>
                    <a:pt x="644812" y="90932"/>
                  </a:lnTo>
                  <a:lnTo>
                    <a:pt x="644753" y="92186"/>
                  </a:lnTo>
                  <a:lnTo>
                    <a:pt x="627888" y="119252"/>
                  </a:lnTo>
                  <a:lnTo>
                    <a:pt x="649538" y="119252"/>
                  </a:lnTo>
                  <a:lnTo>
                    <a:pt x="652272" y="115824"/>
                  </a:lnTo>
                  <a:lnTo>
                    <a:pt x="654938" y="110617"/>
                  </a:lnTo>
                  <a:lnTo>
                    <a:pt x="656844" y="104267"/>
                  </a:lnTo>
                  <a:lnTo>
                    <a:pt x="658876" y="98044"/>
                  </a:lnTo>
                  <a:lnTo>
                    <a:pt x="659892" y="90932"/>
                  </a:lnTo>
                  <a:lnTo>
                    <a:pt x="659892" y="83185"/>
                  </a:lnTo>
                  <a:lnTo>
                    <a:pt x="659346" y="72155"/>
                  </a:lnTo>
                  <a:lnTo>
                    <a:pt x="657790" y="62920"/>
                  </a:lnTo>
                  <a:lnTo>
                    <a:pt x="657717" y="62484"/>
                  </a:lnTo>
                  <a:lnTo>
                    <a:pt x="655084" y="54356"/>
                  </a:lnTo>
                  <a:lnTo>
                    <a:pt x="655016" y="54145"/>
                  </a:lnTo>
                  <a:lnTo>
                    <a:pt x="652411" y="49275"/>
                  </a:lnTo>
                  <a:close/>
                </a:path>
                <a:path w="945514" h="165735">
                  <a:moveTo>
                    <a:pt x="627634" y="34289"/>
                  </a:moveTo>
                  <a:lnTo>
                    <a:pt x="621919" y="34289"/>
                  </a:lnTo>
                  <a:lnTo>
                    <a:pt x="616966" y="35433"/>
                  </a:lnTo>
                  <a:lnTo>
                    <a:pt x="612394" y="37719"/>
                  </a:lnTo>
                  <a:lnTo>
                    <a:pt x="607949" y="40132"/>
                  </a:lnTo>
                  <a:lnTo>
                    <a:pt x="603758" y="43052"/>
                  </a:lnTo>
                  <a:lnTo>
                    <a:pt x="599694" y="46736"/>
                  </a:lnTo>
                  <a:lnTo>
                    <a:pt x="650934" y="46736"/>
                  </a:lnTo>
                  <a:lnTo>
                    <a:pt x="646493" y="41469"/>
                  </a:lnTo>
                  <a:lnTo>
                    <a:pt x="640969" y="37464"/>
                  </a:lnTo>
                  <a:lnTo>
                    <a:pt x="634682" y="35079"/>
                  </a:lnTo>
                  <a:lnTo>
                    <a:pt x="627634" y="34289"/>
                  </a:lnTo>
                  <a:close/>
                </a:path>
                <a:path w="945514" h="165735">
                  <a:moveTo>
                    <a:pt x="696849" y="4699"/>
                  </a:moveTo>
                  <a:lnTo>
                    <a:pt x="680720" y="4699"/>
                  </a:lnTo>
                  <a:lnTo>
                    <a:pt x="680720" y="21209"/>
                  </a:lnTo>
                  <a:lnTo>
                    <a:pt x="696849" y="21209"/>
                  </a:lnTo>
                  <a:lnTo>
                    <a:pt x="696849" y="4699"/>
                  </a:lnTo>
                  <a:close/>
                </a:path>
                <a:path w="945514" h="165735">
                  <a:moveTo>
                    <a:pt x="695833" y="36830"/>
                  </a:moveTo>
                  <a:lnTo>
                    <a:pt x="681609" y="36830"/>
                  </a:lnTo>
                  <a:lnTo>
                    <a:pt x="681609" y="130810"/>
                  </a:lnTo>
                  <a:lnTo>
                    <a:pt x="695833" y="130810"/>
                  </a:lnTo>
                  <a:lnTo>
                    <a:pt x="695833" y="36830"/>
                  </a:lnTo>
                  <a:close/>
                </a:path>
                <a:path w="945514" h="165735">
                  <a:moveTo>
                    <a:pt x="738505" y="0"/>
                  </a:moveTo>
                  <a:lnTo>
                    <a:pt x="724281" y="0"/>
                  </a:lnTo>
                  <a:lnTo>
                    <a:pt x="724281" y="130810"/>
                  </a:lnTo>
                  <a:lnTo>
                    <a:pt x="738505" y="130810"/>
                  </a:lnTo>
                  <a:lnTo>
                    <a:pt x="738505" y="0"/>
                  </a:lnTo>
                  <a:close/>
                </a:path>
                <a:path w="945514" h="165735">
                  <a:moveTo>
                    <a:pt x="782193" y="4699"/>
                  </a:moveTo>
                  <a:lnTo>
                    <a:pt x="766063" y="4699"/>
                  </a:lnTo>
                  <a:lnTo>
                    <a:pt x="766063" y="21209"/>
                  </a:lnTo>
                  <a:lnTo>
                    <a:pt x="782193" y="21209"/>
                  </a:lnTo>
                  <a:lnTo>
                    <a:pt x="782193" y="4699"/>
                  </a:lnTo>
                  <a:close/>
                </a:path>
                <a:path w="945514" h="165735">
                  <a:moveTo>
                    <a:pt x="781176" y="36830"/>
                  </a:moveTo>
                  <a:lnTo>
                    <a:pt x="766952" y="36830"/>
                  </a:lnTo>
                  <a:lnTo>
                    <a:pt x="766952" y="130810"/>
                  </a:lnTo>
                  <a:lnTo>
                    <a:pt x="781176" y="130810"/>
                  </a:lnTo>
                  <a:lnTo>
                    <a:pt x="781176" y="36830"/>
                  </a:lnTo>
                  <a:close/>
                </a:path>
                <a:path w="945514" h="165735">
                  <a:moveTo>
                    <a:pt x="824102" y="50164"/>
                  </a:moveTo>
                  <a:lnTo>
                    <a:pt x="809879" y="50164"/>
                  </a:lnTo>
                  <a:lnTo>
                    <a:pt x="809963" y="101726"/>
                  </a:lnTo>
                  <a:lnTo>
                    <a:pt x="827659" y="132714"/>
                  </a:lnTo>
                  <a:lnTo>
                    <a:pt x="838708" y="132714"/>
                  </a:lnTo>
                  <a:lnTo>
                    <a:pt x="841501" y="132461"/>
                  </a:lnTo>
                  <a:lnTo>
                    <a:pt x="847851" y="131445"/>
                  </a:lnTo>
                  <a:lnTo>
                    <a:pt x="850773" y="130810"/>
                  </a:lnTo>
                  <a:lnTo>
                    <a:pt x="853059" y="130048"/>
                  </a:lnTo>
                  <a:lnTo>
                    <a:pt x="853439" y="130048"/>
                  </a:lnTo>
                  <a:lnTo>
                    <a:pt x="853439" y="118745"/>
                  </a:lnTo>
                  <a:lnTo>
                    <a:pt x="835913" y="118745"/>
                  </a:lnTo>
                  <a:lnTo>
                    <a:pt x="833723" y="118363"/>
                  </a:lnTo>
                  <a:lnTo>
                    <a:pt x="833231" y="118363"/>
                  </a:lnTo>
                  <a:lnTo>
                    <a:pt x="831088" y="117221"/>
                  </a:lnTo>
                  <a:lnTo>
                    <a:pt x="829056" y="116205"/>
                  </a:lnTo>
                  <a:lnTo>
                    <a:pt x="827532" y="114553"/>
                  </a:lnTo>
                  <a:lnTo>
                    <a:pt x="826516" y="112268"/>
                  </a:lnTo>
                  <a:lnTo>
                    <a:pt x="825246" y="109855"/>
                  </a:lnTo>
                  <a:lnTo>
                    <a:pt x="824611" y="107314"/>
                  </a:lnTo>
                  <a:lnTo>
                    <a:pt x="824102" y="101726"/>
                  </a:lnTo>
                  <a:lnTo>
                    <a:pt x="824102" y="50164"/>
                  </a:lnTo>
                  <a:close/>
                </a:path>
                <a:path w="945514" h="165735">
                  <a:moveTo>
                    <a:pt x="853439" y="115697"/>
                  </a:moveTo>
                  <a:lnTo>
                    <a:pt x="852677" y="115697"/>
                  </a:lnTo>
                  <a:lnTo>
                    <a:pt x="851535" y="116205"/>
                  </a:lnTo>
                  <a:lnTo>
                    <a:pt x="849757" y="116839"/>
                  </a:lnTo>
                  <a:lnTo>
                    <a:pt x="844676" y="118363"/>
                  </a:lnTo>
                  <a:lnTo>
                    <a:pt x="842263" y="118745"/>
                  </a:lnTo>
                  <a:lnTo>
                    <a:pt x="853439" y="118745"/>
                  </a:lnTo>
                  <a:lnTo>
                    <a:pt x="853439" y="115697"/>
                  </a:lnTo>
                  <a:close/>
                </a:path>
                <a:path w="945514" h="165735">
                  <a:moveTo>
                    <a:pt x="853439" y="36830"/>
                  </a:moveTo>
                  <a:lnTo>
                    <a:pt x="800226" y="36830"/>
                  </a:lnTo>
                  <a:lnTo>
                    <a:pt x="800226" y="50164"/>
                  </a:lnTo>
                  <a:lnTo>
                    <a:pt x="853439" y="50164"/>
                  </a:lnTo>
                  <a:lnTo>
                    <a:pt x="853439" y="36830"/>
                  </a:lnTo>
                  <a:close/>
                </a:path>
                <a:path w="945514" h="165735">
                  <a:moveTo>
                    <a:pt x="824102" y="9906"/>
                  </a:moveTo>
                  <a:lnTo>
                    <a:pt x="809879" y="9906"/>
                  </a:lnTo>
                  <a:lnTo>
                    <a:pt x="809879" y="36830"/>
                  </a:lnTo>
                  <a:lnTo>
                    <a:pt x="824102" y="36830"/>
                  </a:lnTo>
                  <a:lnTo>
                    <a:pt x="824102" y="9906"/>
                  </a:lnTo>
                  <a:close/>
                </a:path>
                <a:path w="945514" h="165735">
                  <a:moveTo>
                    <a:pt x="878077" y="36830"/>
                  </a:moveTo>
                  <a:lnTo>
                    <a:pt x="862584" y="36830"/>
                  </a:lnTo>
                  <a:lnTo>
                    <a:pt x="896366" y="126237"/>
                  </a:lnTo>
                  <a:lnTo>
                    <a:pt x="880618" y="165481"/>
                  </a:lnTo>
                  <a:lnTo>
                    <a:pt x="895731" y="165481"/>
                  </a:lnTo>
                  <a:lnTo>
                    <a:pt x="918359" y="106552"/>
                  </a:lnTo>
                  <a:lnTo>
                    <a:pt x="903986" y="106552"/>
                  </a:lnTo>
                  <a:lnTo>
                    <a:pt x="878077" y="36830"/>
                  </a:lnTo>
                  <a:close/>
                </a:path>
                <a:path w="945514" h="165735">
                  <a:moveTo>
                    <a:pt x="945134" y="36830"/>
                  </a:moveTo>
                  <a:lnTo>
                    <a:pt x="930148" y="36830"/>
                  </a:lnTo>
                  <a:lnTo>
                    <a:pt x="903986" y="106552"/>
                  </a:lnTo>
                  <a:lnTo>
                    <a:pt x="918359" y="106552"/>
                  </a:lnTo>
                  <a:lnTo>
                    <a:pt x="945134" y="36830"/>
                  </a:lnTo>
                  <a:close/>
                </a:path>
              </a:pathLst>
            </a:custGeom>
            <a:solidFill>
              <a:srgbClr val="E3DF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46955" y="2714498"/>
              <a:ext cx="695325" cy="133476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31811" y="3324098"/>
              <a:ext cx="773442" cy="165481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66340" y="3324098"/>
              <a:ext cx="1237995" cy="13347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69741" y="3328797"/>
              <a:ext cx="660908" cy="161671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002405" y="3324098"/>
              <a:ext cx="369570" cy="166370"/>
            </a:xfrm>
            <a:custGeom>
              <a:avLst/>
              <a:gdLst/>
              <a:ahLst/>
              <a:cxnLst/>
              <a:rect l="l" t="t" r="r" b="b"/>
              <a:pathLst>
                <a:path w="369570" h="166370">
                  <a:moveTo>
                    <a:pt x="14224" y="0"/>
                  </a:moveTo>
                  <a:lnTo>
                    <a:pt x="0" y="0"/>
                  </a:lnTo>
                  <a:lnTo>
                    <a:pt x="0" y="130810"/>
                  </a:lnTo>
                  <a:lnTo>
                    <a:pt x="14224" y="130810"/>
                  </a:lnTo>
                  <a:lnTo>
                    <a:pt x="14224" y="0"/>
                  </a:lnTo>
                  <a:close/>
                </a:path>
                <a:path w="369570" h="166370">
                  <a:moveTo>
                    <a:pt x="105973" y="48514"/>
                  </a:moveTo>
                  <a:lnTo>
                    <a:pt x="76073" y="48514"/>
                  </a:lnTo>
                  <a:lnTo>
                    <a:pt x="78994" y="48768"/>
                  </a:lnTo>
                  <a:lnTo>
                    <a:pt x="81787" y="49275"/>
                  </a:lnTo>
                  <a:lnTo>
                    <a:pt x="95631" y="62737"/>
                  </a:lnTo>
                  <a:lnTo>
                    <a:pt x="95631" y="68706"/>
                  </a:lnTo>
                  <a:lnTo>
                    <a:pt x="87375" y="69215"/>
                  </a:lnTo>
                  <a:lnTo>
                    <a:pt x="79629" y="69850"/>
                  </a:lnTo>
                  <a:lnTo>
                    <a:pt x="42037" y="86233"/>
                  </a:lnTo>
                  <a:lnTo>
                    <a:pt x="37973" y="96393"/>
                  </a:lnTo>
                  <a:lnTo>
                    <a:pt x="37973" y="112268"/>
                  </a:lnTo>
                  <a:lnTo>
                    <a:pt x="40640" y="119380"/>
                  </a:lnTo>
                  <a:lnTo>
                    <a:pt x="45974" y="124968"/>
                  </a:lnTo>
                  <a:lnTo>
                    <a:pt x="51181" y="130556"/>
                  </a:lnTo>
                  <a:lnTo>
                    <a:pt x="57658" y="133477"/>
                  </a:lnTo>
                  <a:lnTo>
                    <a:pt x="69469" y="133477"/>
                  </a:lnTo>
                  <a:lnTo>
                    <a:pt x="73025" y="132969"/>
                  </a:lnTo>
                  <a:lnTo>
                    <a:pt x="76073" y="132080"/>
                  </a:lnTo>
                  <a:lnTo>
                    <a:pt x="79248" y="131191"/>
                  </a:lnTo>
                  <a:lnTo>
                    <a:pt x="81915" y="130175"/>
                  </a:lnTo>
                  <a:lnTo>
                    <a:pt x="84328" y="128905"/>
                  </a:lnTo>
                  <a:lnTo>
                    <a:pt x="86360" y="127889"/>
                  </a:lnTo>
                  <a:lnTo>
                    <a:pt x="88392" y="126492"/>
                  </a:lnTo>
                  <a:lnTo>
                    <a:pt x="90384" y="124968"/>
                  </a:lnTo>
                  <a:lnTo>
                    <a:pt x="92710" y="123062"/>
                  </a:lnTo>
                  <a:lnTo>
                    <a:pt x="94361" y="121793"/>
                  </a:lnTo>
                  <a:lnTo>
                    <a:pt x="95631" y="120777"/>
                  </a:lnTo>
                  <a:lnTo>
                    <a:pt x="109728" y="120777"/>
                  </a:lnTo>
                  <a:lnTo>
                    <a:pt x="109728" y="118745"/>
                  </a:lnTo>
                  <a:lnTo>
                    <a:pt x="64389" y="118745"/>
                  </a:lnTo>
                  <a:lnTo>
                    <a:pt x="59944" y="117348"/>
                  </a:lnTo>
                  <a:lnTo>
                    <a:pt x="57023" y="114681"/>
                  </a:lnTo>
                  <a:lnTo>
                    <a:pt x="54102" y="111887"/>
                  </a:lnTo>
                  <a:lnTo>
                    <a:pt x="52705" y="107823"/>
                  </a:lnTo>
                  <a:lnTo>
                    <a:pt x="52705" y="97662"/>
                  </a:lnTo>
                  <a:lnTo>
                    <a:pt x="86233" y="82296"/>
                  </a:lnTo>
                  <a:lnTo>
                    <a:pt x="91312" y="81787"/>
                  </a:lnTo>
                  <a:lnTo>
                    <a:pt x="95631" y="81534"/>
                  </a:lnTo>
                  <a:lnTo>
                    <a:pt x="109728" y="81534"/>
                  </a:lnTo>
                  <a:lnTo>
                    <a:pt x="109728" y="60960"/>
                  </a:lnTo>
                  <a:lnTo>
                    <a:pt x="108966" y="55880"/>
                  </a:lnTo>
                  <a:lnTo>
                    <a:pt x="106076" y="48768"/>
                  </a:lnTo>
                  <a:lnTo>
                    <a:pt x="105973" y="48514"/>
                  </a:lnTo>
                  <a:close/>
                </a:path>
                <a:path w="369570" h="166370">
                  <a:moveTo>
                    <a:pt x="109728" y="120777"/>
                  </a:moveTo>
                  <a:lnTo>
                    <a:pt x="95631" y="120777"/>
                  </a:lnTo>
                  <a:lnTo>
                    <a:pt x="95631" y="130810"/>
                  </a:lnTo>
                  <a:lnTo>
                    <a:pt x="109728" y="130810"/>
                  </a:lnTo>
                  <a:lnTo>
                    <a:pt x="109728" y="120777"/>
                  </a:lnTo>
                  <a:close/>
                </a:path>
                <a:path w="369570" h="166370">
                  <a:moveTo>
                    <a:pt x="109728" y="81534"/>
                  </a:moveTo>
                  <a:lnTo>
                    <a:pt x="95631" y="81534"/>
                  </a:lnTo>
                  <a:lnTo>
                    <a:pt x="95631" y="107823"/>
                  </a:lnTo>
                  <a:lnTo>
                    <a:pt x="95482" y="107823"/>
                  </a:lnTo>
                  <a:lnTo>
                    <a:pt x="92075" y="110743"/>
                  </a:lnTo>
                  <a:lnTo>
                    <a:pt x="88265" y="113284"/>
                  </a:lnTo>
                  <a:lnTo>
                    <a:pt x="84074" y="115443"/>
                  </a:lnTo>
                  <a:lnTo>
                    <a:pt x="80010" y="117602"/>
                  </a:lnTo>
                  <a:lnTo>
                    <a:pt x="75437" y="118745"/>
                  </a:lnTo>
                  <a:lnTo>
                    <a:pt x="109728" y="118745"/>
                  </a:lnTo>
                  <a:lnTo>
                    <a:pt x="109728" y="81534"/>
                  </a:lnTo>
                  <a:close/>
                </a:path>
                <a:path w="369570" h="166370">
                  <a:moveTo>
                    <a:pt x="78994" y="34671"/>
                  </a:moveTo>
                  <a:lnTo>
                    <a:pt x="67945" y="34671"/>
                  </a:lnTo>
                  <a:lnTo>
                    <a:pt x="62737" y="35179"/>
                  </a:lnTo>
                  <a:lnTo>
                    <a:pt x="57531" y="36068"/>
                  </a:lnTo>
                  <a:lnTo>
                    <a:pt x="52197" y="37084"/>
                  </a:lnTo>
                  <a:lnTo>
                    <a:pt x="48260" y="38100"/>
                  </a:lnTo>
                  <a:lnTo>
                    <a:pt x="45466" y="38862"/>
                  </a:lnTo>
                  <a:lnTo>
                    <a:pt x="45466" y="54991"/>
                  </a:lnTo>
                  <a:lnTo>
                    <a:pt x="46228" y="54991"/>
                  </a:lnTo>
                  <a:lnTo>
                    <a:pt x="51054" y="52831"/>
                  </a:lnTo>
                  <a:lnTo>
                    <a:pt x="55880" y="51308"/>
                  </a:lnTo>
                  <a:lnTo>
                    <a:pt x="60452" y="50165"/>
                  </a:lnTo>
                  <a:lnTo>
                    <a:pt x="64452" y="49275"/>
                  </a:lnTo>
                  <a:lnTo>
                    <a:pt x="64185" y="49275"/>
                  </a:lnTo>
                  <a:lnTo>
                    <a:pt x="69215" y="48514"/>
                  </a:lnTo>
                  <a:lnTo>
                    <a:pt x="105973" y="48514"/>
                  </a:lnTo>
                  <a:lnTo>
                    <a:pt x="105664" y="47752"/>
                  </a:lnTo>
                  <a:lnTo>
                    <a:pt x="84200" y="35179"/>
                  </a:lnTo>
                  <a:lnTo>
                    <a:pt x="78994" y="34671"/>
                  </a:lnTo>
                  <a:close/>
                </a:path>
                <a:path w="369570" h="166370">
                  <a:moveTo>
                    <a:pt x="149733" y="36956"/>
                  </a:moveTo>
                  <a:lnTo>
                    <a:pt x="135509" y="36956"/>
                  </a:lnTo>
                  <a:lnTo>
                    <a:pt x="135509" y="130810"/>
                  </a:lnTo>
                  <a:lnTo>
                    <a:pt x="149733" y="130810"/>
                  </a:lnTo>
                  <a:lnTo>
                    <a:pt x="149733" y="64135"/>
                  </a:lnTo>
                  <a:lnTo>
                    <a:pt x="153543" y="60706"/>
                  </a:lnTo>
                  <a:lnTo>
                    <a:pt x="157480" y="57912"/>
                  </a:lnTo>
                  <a:lnTo>
                    <a:pt x="165608" y="53593"/>
                  </a:lnTo>
                  <a:lnTo>
                    <a:pt x="169386" y="52705"/>
                  </a:lnTo>
                  <a:lnTo>
                    <a:pt x="188341" y="52705"/>
                  </a:lnTo>
                  <a:lnTo>
                    <a:pt x="188341" y="50800"/>
                  </a:lnTo>
                  <a:lnTo>
                    <a:pt x="149733" y="50800"/>
                  </a:lnTo>
                  <a:lnTo>
                    <a:pt x="149733" y="36956"/>
                  </a:lnTo>
                  <a:close/>
                </a:path>
                <a:path w="369570" h="166370">
                  <a:moveTo>
                    <a:pt x="188341" y="52705"/>
                  </a:moveTo>
                  <a:lnTo>
                    <a:pt x="179324" y="52705"/>
                  </a:lnTo>
                  <a:lnTo>
                    <a:pt x="183387" y="53212"/>
                  </a:lnTo>
                  <a:lnTo>
                    <a:pt x="185420" y="53593"/>
                  </a:lnTo>
                  <a:lnTo>
                    <a:pt x="187579" y="54102"/>
                  </a:lnTo>
                  <a:lnTo>
                    <a:pt x="188341" y="54102"/>
                  </a:lnTo>
                  <a:lnTo>
                    <a:pt x="188341" y="52705"/>
                  </a:lnTo>
                  <a:close/>
                </a:path>
                <a:path w="369570" h="166370">
                  <a:moveTo>
                    <a:pt x="182117" y="36956"/>
                  </a:moveTo>
                  <a:lnTo>
                    <a:pt x="172988" y="36956"/>
                  </a:lnTo>
                  <a:lnTo>
                    <a:pt x="169037" y="37973"/>
                  </a:lnTo>
                  <a:lnTo>
                    <a:pt x="164719" y="40005"/>
                  </a:lnTo>
                  <a:lnTo>
                    <a:pt x="160400" y="42164"/>
                  </a:lnTo>
                  <a:lnTo>
                    <a:pt x="155448" y="45720"/>
                  </a:lnTo>
                  <a:lnTo>
                    <a:pt x="149733" y="50800"/>
                  </a:lnTo>
                  <a:lnTo>
                    <a:pt x="188341" y="50800"/>
                  </a:lnTo>
                  <a:lnTo>
                    <a:pt x="188341" y="37973"/>
                  </a:lnTo>
                  <a:lnTo>
                    <a:pt x="189128" y="37973"/>
                  </a:lnTo>
                  <a:lnTo>
                    <a:pt x="184404" y="37211"/>
                  </a:lnTo>
                  <a:lnTo>
                    <a:pt x="182117" y="36956"/>
                  </a:lnTo>
                  <a:close/>
                </a:path>
                <a:path w="369570" h="166370">
                  <a:moveTo>
                    <a:pt x="206375" y="146177"/>
                  </a:moveTo>
                  <a:lnTo>
                    <a:pt x="205612" y="146177"/>
                  </a:lnTo>
                  <a:lnTo>
                    <a:pt x="205612" y="162306"/>
                  </a:lnTo>
                  <a:lnTo>
                    <a:pt x="226822" y="166370"/>
                  </a:lnTo>
                  <a:lnTo>
                    <a:pt x="231394" y="166370"/>
                  </a:lnTo>
                  <a:lnTo>
                    <a:pt x="263418" y="152146"/>
                  </a:lnTo>
                  <a:lnTo>
                    <a:pt x="227457" y="152146"/>
                  </a:lnTo>
                  <a:lnTo>
                    <a:pt x="223329" y="151511"/>
                  </a:lnTo>
                  <a:lnTo>
                    <a:pt x="222965" y="151511"/>
                  </a:lnTo>
                  <a:lnTo>
                    <a:pt x="217424" y="149987"/>
                  </a:lnTo>
                  <a:lnTo>
                    <a:pt x="212344" y="148462"/>
                  </a:lnTo>
                  <a:lnTo>
                    <a:pt x="208661" y="147193"/>
                  </a:lnTo>
                  <a:lnTo>
                    <a:pt x="206375" y="146177"/>
                  </a:lnTo>
                  <a:close/>
                </a:path>
                <a:path w="369570" h="166370">
                  <a:moveTo>
                    <a:pt x="271145" y="117983"/>
                  </a:moveTo>
                  <a:lnTo>
                    <a:pt x="256921" y="117983"/>
                  </a:lnTo>
                  <a:lnTo>
                    <a:pt x="256828" y="131262"/>
                  </a:lnTo>
                  <a:lnTo>
                    <a:pt x="256540" y="133858"/>
                  </a:lnTo>
                  <a:lnTo>
                    <a:pt x="255778" y="136906"/>
                  </a:lnTo>
                  <a:lnTo>
                    <a:pt x="255016" y="140081"/>
                  </a:lnTo>
                  <a:lnTo>
                    <a:pt x="253746" y="142621"/>
                  </a:lnTo>
                  <a:lnTo>
                    <a:pt x="250190" y="147193"/>
                  </a:lnTo>
                  <a:lnTo>
                    <a:pt x="247777" y="148971"/>
                  </a:lnTo>
                  <a:lnTo>
                    <a:pt x="241427" y="151511"/>
                  </a:lnTo>
                  <a:lnTo>
                    <a:pt x="237362" y="152146"/>
                  </a:lnTo>
                  <a:lnTo>
                    <a:pt x="263418" y="152146"/>
                  </a:lnTo>
                  <a:lnTo>
                    <a:pt x="265557" y="148971"/>
                  </a:lnTo>
                  <a:lnTo>
                    <a:pt x="265680" y="148788"/>
                  </a:lnTo>
                  <a:lnTo>
                    <a:pt x="268732" y="140811"/>
                  </a:lnTo>
                  <a:lnTo>
                    <a:pt x="270545" y="131262"/>
                  </a:lnTo>
                  <a:lnTo>
                    <a:pt x="270645" y="129412"/>
                  </a:lnTo>
                  <a:lnTo>
                    <a:pt x="270700" y="128397"/>
                  </a:lnTo>
                  <a:lnTo>
                    <a:pt x="270809" y="126364"/>
                  </a:lnTo>
                  <a:lnTo>
                    <a:pt x="270898" y="124714"/>
                  </a:lnTo>
                  <a:lnTo>
                    <a:pt x="271014" y="122555"/>
                  </a:lnTo>
                  <a:lnTo>
                    <a:pt x="271056" y="121793"/>
                  </a:lnTo>
                  <a:lnTo>
                    <a:pt x="271145" y="117983"/>
                  </a:lnTo>
                  <a:close/>
                </a:path>
                <a:path w="369570" h="166370">
                  <a:moveTo>
                    <a:pt x="239014" y="34290"/>
                  </a:moveTo>
                  <a:lnTo>
                    <a:pt x="229489" y="34290"/>
                  </a:lnTo>
                  <a:lnTo>
                    <a:pt x="224790" y="35433"/>
                  </a:lnTo>
                  <a:lnTo>
                    <a:pt x="197734" y="67976"/>
                  </a:lnTo>
                  <a:lnTo>
                    <a:pt x="196723" y="74930"/>
                  </a:lnTo>
                  <a:lnTo>
                    <a:pt x="196723" y="82931"/>
                  </a:lnTo>
                  <a:lnTo>
                    <a:pt x="197282" y="93218"/>
                  </a:lnTo>
                  <a:lnTo>
                    <a:pt x="197290" y="93360"/>
                  </a:lnTo>
                  <a:lnTo>
                    <a:pt x="198977" y="102552"/>
                  </a:lnTo>
                  <a:lnTo>
                    <a:pt x="201709" y="110362"/>
                  </a:lnTo>
                  <a:lnTo>
                    <a:pt x="201759" y="110505"/>
                  </a:lnTo>
                  <a:lnTo>
                    <a:pt x="229743" y="129412"/>
                  </a:lnTo>
                  <a:lnTo>
                    <a:pt x="235712" y="129412"/>
                  </a:lnTo>
                  <a:lnTo>
                    <a:pt x="256921" y="117983"/>
                  </a:lnTo>
                  <a:lnTo>
                    <a:pt x="271145" y="117983"/>
                  </a:lnTo>
                  <a:lnTo>
                    <a:pt x="271145" y="114808"/>
                  </a:lnTo>
                  <a:lnTo>
                    <a:pt x="225298" y="114808"/>
                  </a:lnTo>
                  <a:lnTo>
                    <a:pt x="219837" y="112014"/>
                  </a:lnTo>
                  <a:lnTo>
                    <a:pt x="216408" y="106553"/>
                  </a:lnTo>
                  <a:lnTo>
                    <a:pt x="213106" y="101092"/>
                  </a:lnTo>
                  <a:lnTo>
                    <a:pt x="211484" y="93360"/>
                  </a:lnTo>
                  <a:lnTo>
                    <a:pt x="211455" y="82677"/>
                  </a:lnTo>
                  <a:lnTo>
                    <a:pt x="211875" y="74930"/>
                  </a:lnTo>
                  <a:lnTo>
                    <a:pt x="228854" y="48514"/>
                  </a:lnTo>
                  <a:lnTo>
                    <a:pt x="271145" y="48514"/>
                  </a:lnTo>
                  <a:lnTo>
                    <a:pt x="271145" y="40893"/>
                  </a:lnTo>
                  <a:lnTo>
                    <a:pt x="256921" y="40893"/>
                  </a:lnTo>
                  <a:lnTo>
                    <a:pt x="253237" y="38735"/>
                  </a:lnTo>
                  <a:lnTo>
                    <a:pt x="249809" y="36956"/>
                  </a:lnTo>
                  <a:lnTo>
                    <a:pt x="246507" y="35941"/>
                  </a:lnTo>
                  <a:lnTo>
                    <a:pt x="243205" y="34798"/>
                  </a:lnTo>
                  <a:lnTo>
                    <a:pt x="239014" y="34290"/>
                  </a:lnTo>
                  <a:close/>
                </a:path>
                <a:path w="369570" h="166370">
                  <a:moveTo>
                    <a:pt x="271145" y="48514"/>
                  </a:moveTo>
                  <a:lnTo>
                    <a:pt x="239903" y="48514"/>
                  </a:lnTo>
                  <a:lnTo>
                    <a:pt x="243078" y="48895"/>
                  </a:lnTo>
                  <a:lnTo>
                    <a:pt x="246380" y="49656"/>
                  </a:lnTo>
                  <a:lnTo>
                    <a:pt x="249682" y="50546"/>
                  </a:lnTo>
                  <a:lnTo>
                    <a:pt x="253111" y="51816"/>
                  </a:lnTo>
                  <a:lnTo>
                    <a:pt x="256921" y="53848"/>
                  </a:lnTo>
                  <a:lnTo>
                    <a:pt x="256921" y="105029"/>
                  </a:lnTo>
                  <a:lnTo>
                    <a:pt x="253492" y="107950"/>
                  </a:lnTo>
                  <a:lnTo>
                    <a:pt x="249682" y="110362"/>
                  </a:lnTo>
                  <a:lnTo>
                    <a:pt x="241300" y="113918"/>
                  </a:lnTo>
                  <a:lnTo>
                    <a:pt x="237109" y="114808"/>
                  </a:lnTo>
                  <a:lnTo>
                    <a:pt x="271145" y="114808"/>
                  </a:lnTo>
                  <a:lnTo>
                    <a:pt x="271145" y="48514"/>
                  </a:lnTo>
                  <a:close/>
                </a:path>
                <a:path w="369570" h="166370">
                  <a:moveTo>
                    <a:pt x="271145" y="36956"/>
                  </a:moveTo>
                  <a:lnTo>
                    <a:pt x="257782" y="36956"/>
                  </a:lnTo>
                  <a:lnTo>
                    <a:pt x="256921" y="40893"/>
                  </a:lnTo>
                  <a:lnTo>
                    <a:pt x="271145" y="40893"/>
                  </a:lnTo>
                  <a:lnTo>
                    <a:pt x="271145" y="36956"/>
                  </a:lnTo>
                  <a:close/>
                </a:path>
                <a:path w="369570" h="166370">
                  <a:moveTo>
                    <a:pt x="333756" y="34290"/>
                  </a:moveTo>
                  <a:lnTo>
                    <a:pt x="298983" y="55183"/>
                  </a:lnTo>
                  <a:lnTo>
                    <a:pt x="292608" y="84455"/>
                  </a:lnTo>
                  <a:lnTo>
                    <a:pt x="293346" y="95410"/>
                  </a:lnTo>
                  <a:lnTo>
                    <a:pt x="295527" y="104902"/>
                  </a:lnTo>
                  <a:lnTo>
                    <a:pt x="295560" y="105044"/>
                  </a:lnTo>
                  <a:lnTo>
                    <a:pt x="327421" y="132206"/>
                  </a:lnTo>
                  <a:lnTo>
                    <a:pt x="327634" y="132206"/>
                  </a:lnTo>
                  <a:lnTo>
                    <a:pt x="337312" y="132969"/>
                  </a:lnTo>
                  <a:lnTo>
                    <a:pt x="342773" y="132969"/>
                  </a:lnTo>
                  <a:lnTo>
                    <a:pt x="347980" y="132206"/>
                  </a:lnTo>
                  <a:lnTo>
                    <a:pt x="358013" y="129159"/>
                  </a:lnTo>
                  <a:lnTo>
                    <a:pt x="362966" y="127381"/>
                  </a:lnTo>
                  <a:lnTo>
                    <a:pt x="367665" y="125095"/>
                  </a:lnTo>
                  <a:lnTo>
                    <a:pt x="367665" y="119253"/>
                  </a:lnTo>
                  <a:lnTo>
                    <a:pt x="332740" y="119253"/>
                  </a:lnTo>
                  <a:lnTo>
                    <a:pt x="328803" y="118491"/>
                  </a:lnTo>
                  <a:lnTo>
                    <a:pt x="311112" y="105044"/>
                  </a:lnTo>
                  <a:lnTo>
                    <a:pt x="311023" y="104902"/>
                  </a:lnTo>
                  <a:lnTo>
                    <a:pt x="309372" y="100584"/>
                  </a:lnTo>
                  <a:lnTo>
                    <a:pt x="307848" y="96266"/>
                  </a:lnTo>
                  <a:lnTo>
                    <a:pt x="307086" y="91312"/>
                  </a:lnTo>
                  <a:lnTo>
                    <a:pt x="307086" y="85471"/>
                  </a:lnTo>
                  <a:lnTo>
                    <a:pt x="369316" y="85471"/>
                  </a:lnTo>
                  <a:lnTo>
                    <a:pt x="369316" y="76962"/>
                  </a:lnTo>
                  <a:lnTo>
                    <a:pt x="369112" y="73523"/>
                  </a:lnTo>
                  <a:lnTo>
                    <a:pt x="307075" y="73523"/>
                  </a:lnTo>
                  <a:lnTo>
                    <a:pt x="307613" y="67288"/>
                  </a:lnTo>
                  <a:lnTo>
                    <a:pt x="325374" y="47371"/>
                  </a:lnTo>
                  <a:lnTo>
                    <a:pt x="361385" y="47371"/>
                  </a:lnTo>
                  <a:lnTo>
                    <a:pt x="360045" y="45339"/>
                  </a:lnTo>
                  <a:lnTo>
                    <a:pt x="354972" y="40505"/>
                  </a:lnTo>
                  <a:lnTo>
                    <a:pt x="348900" y="37052"/>
                  </a:lnTo>
                  <a:lnTo>
                    <a:pt x="341828" y="34980"/>
                  </a:lnTo>
                  <a:lnTo>
                    <a:pt x="333756" y="34290"/>
                  </a:lnTo>
                  <a:close/>
                </a:path>
                <a:path w="369570" h="166370">
                  <a:moveTo>
                    <a:pt x="367665" y="107823"/>
                  </a:moveTo>
                  <a:lnTo>
                    <a:pt x="366903" y="107823"/>
                  </a:lnTo>
                  <a:lnTo>
                    <a:pt x="364490" y="110362"/>
                  </a:lnTo>
                  <a:lnTo>
                    <a:pt x="360299" y="112775"/>
                  </a:lnTo>
                  <a:lnTo>
                    <a:pt x="354457" y="115316"/>
                  </a:lnTo>
                  <a:lnTo>
                    <a:pt x="348615" y="117983"/>
                  </a:lnTo>
                  <a:lnTo>
                    <a:pt x="342900" y="119253"/>
                  </a:lnTo>
                  <a:lnTo>
                    <a:pt x="367665" y="119253"/>
                  </a:lnTo>
                  <a:lnTo>
                    <a:pt x="367665" y="107823"/>
                  </a:lnTo>
                  <a:close/>
                </a:path>
                <a:path w="369570" h="166370">
                  <a:moveTo>
                    <a:pt x="361385" y="47371"/>
                  </a:moveTo>
                  <a:lnTo>
                    <a:pt x="340487" y="47371"/>
                  </a:lnTo>
                  <a:lnTo>
                    <a:pt x="346202" y="49530"/>
                  </a:lnTo>
                  <a:lnTo>
                    <a:pt x="353568" y="58674"/>
                  </a:lnTo>
                  <a:lnTo>
                    <a:pt x="355473" y="65024"/>
                  </a:lnTo>
                  <a:lnTo>
                    <a:pt x="355473" y="73523"/>
                  </a:lnTo>
                  <a:lnTo>
                    <a:pt x="369112" y="73523"/>
                  </a:lnTo>
                  <a:lnTo>
                    <a:pt x="368742" y="67288"/>
                  </a:lnTo>
                  <a:lnTo>
                    <a:pt x="367014" y="58816"/>
                  </a:lnTo>
                  <a:lnTo>
                    <a:pt x="364118" y="51512"/>
                  </a:lnTo>
                  <a:lnTo>
                    <a:pt x="361385" y="47371"/>
                  </a:lnTo>
                  <a:close/>
                </a:path>
              </a:pathLst>
            </a:custGeom>
            <a:solidFill>
              <a:srgbClr val="E3DF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33061" y="3329686"/>
              <a:ext cx="142493" cy="12522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39310" y="3358388"/>
              <a:ext cx="503936" cy="13208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32027" y="3936873"/>
              <a:ext cx="840917" cy="161671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36445" y="3932174"/>
              <a:ext cx="1190752" cy="165481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296793" y="3932174"/>
              <a:ext cx="476884" cy="166370"/>
            </a:xfrm>
            <a:custGeom>
              <a:avLst/>
              <a:gdLst/>
              <a:ahLst/>
              <a:cxnLst/>
              <a:rect l="l" t="t" r="r" b="b"/>
              <a:pathLst>
                <a:path w="476885" h="166370">
                  <a:moveTo>
                    <a:pt x="14224" y="0"/>
                  </a:moveTo>
                  <a:lnTo>
                    <a:pt x="0" y="0"/>
                  </a:lnTo>
                  <a:lnTo>
                    <a:pt x="0" y="130810"/>
                  </a:lnTo>
                  <a:lnTo>
                    <a:pt x="14224" y="130810"/>
                  </a:lnTo>
                  <a:lnTo>
                    <a:pt x="14224" y="0"/>
                  </a:lnTo>
                  <a:close/>
                </a:path>
                <a:path w="476885" h="166370">
                  <a:moveTo>
                    <a:pt x="77724" y="34290"/>
                  </a:moveTo>
                  <a:lnTo>
                    <a:pt x="42951" y="55183"/>
                  </a:lnTo>
                  <a:lnTo>
                    <a:pt x="36576" y="84455"/>
                  </a:lnTo>
                  <a:lnTo>
                    <a:pt x="37314" y="95410"/>
                  </a:lnTo>
                  <a:lnTo>
                    <a:pt x="39495" y="104902"/>
                  </a:lnTo>
                  <a:lnTo>
                    <a:pt x="39528" y="105044"/>
                  </a:lnTo>
                  <a:lnTo>
                    <a:pt x="71389" y="132207"/>
                  </a:lnTo>
                  <a:lnTo>
                    <a:pt x="71602" y="132207"/>
                  </a:lnTo>
                  <a:lnTo>
                    <a:pt x="81280" y="132969"/>
                  </a:lnTo>
                  <a:lnTo>
                    <a:pt x="86741" y="132969"/>
                  </a:lnTo>
                  <a:lnTo>
                    <a:pt x="91948" y="132207"/>
                  </a:lnTo>
                  <a:lnTo>
                    <a:pt x="101981" y="129159"/>
                  </a:lnTo>
                  <a:lnTo>
                    <a:pt x="106934" y="127381"/>
                  </a:lnTo>
                  <a:lnTo>
                    <a:pt x="111633" y="125095"/>
                  </a:lnTo>
                  <a:lnTo>
                    <a:pt x="111633" y="119253"/>
                  </a:lnTo>
                  <a:lnTo>
                    <a:pt x="76708" y="119253"/>
                  </a:lnTo>
                  <a:lnTo>
                    <a:pt x="72771" y="118491"/>
                  </a:lnTo>
                  <a:lnTo>
                    <a:pt x="51054" y="91313"/>
                  </a:lnTo>
                  <a:lnTo>
                    <a:pt x="51054" y="85471"/>
                  </a:lnTo>
                  <a:lnTo>
                    <a:pt x="113284" y="85471"/>
                  </a:lnTo>
                  <a:lnTo>
                    <a:pt x="113284" y="76962"/>
                  </a:lnTo>
                  <a:lnTo>
                    <a:pt x="113080" y="73523"/>
                  </a:lnTo>
                  <a:lnTo>
                    <a:pt x="51043" y="73523"/>
                  </a:lnTo>
                  <a:lnTo>
                    <a:pt x="51581" y="67288"/>
                  </a:lnTo>
                  <a:lnTo>
                    <a:pt x="69342" y="47371"/>
                  </a:lnTo>
                  <a:lnTo>
                    <a:pt x="105353" y="47371"/>
                  </a:lnTo>
                  <a:lnTo>
                    <a:pt x="104012" y="45339"/>
                  </a:lnTo>
                  <a:lnTo>
                    <a:pt x="98940" y="40505"/>
                  </a:lnTo>
                  <a:lnTo>
                    <a:pt x="92868" y="37052"/>
                  </a:lnTo>
                  <a:lnTo>
                    <a:pt x="85796" y="34980"/>
                  </a:lnTo>
                  <a:lnTo>
                    <a:pt x="77724" y="34290"/>
                  </a:lnTo>
                  <a:close/>
                </a:path>
                <a:path w="476885" h="166370">
                  <a:moveTo>
                    <a:pt x="111633" y="107823"/>
                  </a:moveTo>
                  <a:lnTo>
                    <a:pt x="110871" y="107823"/>
                  </a:lnTo>
                  <a:lnTo>
                    <a:pt x="108458" y="110363"/>
                  </a:lnTo>
                  <a:lnTo>
                    <a:pt x="104267" y="112776"/>
                  </a:lnTo>
                  <a:lnTo>
                    <a:pt x="98425" y="115443"/>
                  </a:lnTo>
                  <a:lnTo>
                    <a:pt x="92583" y="117983"/>
                  </a:lnTo>
                  <a:lnTo>
                    <a:pt x="86868" y="119253"/>
                  </a:lnTo>
                  <a:lnTo>
                    <a:pt x="111633" y="119253"/>
                  </a:lnTo>
                  <a:lnTo>
                    <a:pt x="111633" y="107823"/>
                  </a:lnTo>
                  <a:close/>
                </a:path>
                <a:path w="476885" h="166370">
                  <a:moveTo>
                    <a:pt x="105353" y="47371"/>
                  </a:moveTo>
                  <a:lnTo>
                    <a:pt x="84455" y="47371"/>
                  </a:lnTo>
                  <a:lnTo>
                    <a:pt x="90170" y="49530"/>
                  </a:lnTo>
                  <a:lnTo>
                    <a:pt x="97536" y="58674"/>
                  </a:lnTo>
                  <a:lnTo>
                    <a:pt x="99441" y="65024"/>
                  </a:lnTo>
                  <a:lnTo>
                    <a:pt x="99441" y="73523"/>
                  </a:lnTo>
                  <a:lnTo>
                    <a:pt x="113080" y="73523"/>
                  </a:lnTo>
                  <a:lnTo>
                    <a:pt x="112710" y="67288"/>
                  </a:lnTo>
                  <a:lnTo>
                    <a:pt x="110982" y="58816"/>
                  </a:lnTo>
                  <a:lnTo>
                    <a:pt x="108086" y="51512"/>
                  </a:lnTo>
                  <a:lnTo>
                    <a:pt x="105353" y="47371"/>
                  </a:lnTo>
                  <a:close/>
                </a:path>
                <a:path w="476885" h="166370">
                  <a:moveTo>
                    <a:pt x="137795" y="146177"/>
                  </a:moveTo>
                  <a:lnTo>
                    <a:pt x="137033" y="146177"/>
                  </a:lnTo>
                  <a:lnTo>
                    <a:pt x="137033" y="162306"/>
                  </a:lnTo>
                  <a:lnTo>
                    <a:pt x="158242" y="166370"/>
                  </a:lnTo>
                  <a:lnTo>
                    <a:pt x="162814" y="166370"/>
                  </a:lnTo>
                  <a:lnTo>
                    <a:pt x="194838" y="152146"/>
                  </a:lnTo>
                  <a:lnTo>
                    <a:pt x="158877" y="152146"/>
                  </a:lnTo>
                  <a:lnTo>
                    <a:pt x="154749" y="151511"/>
                  </a:lnTo>
                  <a:lnTo>
                    <a:pt x="154385" y="151511"/>
                  </a:lnTo>
                  <a:lnTo>
                    <a:pt x="148844" y="149987"/>
                  </a:lnTo>
                  <a:lnTo>
                    <a:pt x="143764" y="148463"/>
                  </a:lnTo>
                  <a:lnTo>
                    <a:pt x="140081" y="147193"/>
                  </a:lnTo>
                  <a:lnTo>
                    <a:pt x="137795" y="146177"/>
                  </a:lnTo>
                  <a:close/>
                </a:path>
                <a:path w="476885" h="166370">
                  <a:moveTo>
                    <a:pt x="202565" y="117983"/>
                  </a:moveTo>
                  <a:lnTo>
                    <a:pt x="188341" y="117983"/>
                  </a:lnTo>
                  <a:lnTo>
                    <a:pt x="188248" y="131262"/>
                  </a:lnTo>
                  <a:lnTo>
                    <a:pt x="187960" y="133858"/>
                  </a:lnTo>
                  <a:lnTo>
                    <a:pt x="187198" y="136906"/>
                  </a:lnTo>
                  <a:lnTo>
                    <a:pt x="186436" y="140081"/>
                  </a:lnTo>
                  <a:lnTo>
                    <a:pt x="185166" y="142621"/>
                  </a:lnTo>
                  <a:lnTo>
                    <a:pt x="181610" y="147193"/>
                  </a:lnTo>
                  <a:lnTo>
                    <a:pt x="179197" y="148971"/>
                  </a:lnTo>
                  <a:lnTo>
                    <a:pt x="172847" y="151511"/>
                  </a:lnTo>
                  <a:lnTo>
                    <a:pt x="168783" y="152146"/>
                  </a:lnTo>
                  <a:lnTo>
                    <a:pt x="194838" y="152146"/>
                  </a:lnTo>
                  <a:lnTo>
                    <a:pt x="196977" y="148971"/>
                  </a:lnTo>
                  <a:lnTo>
                    <a:pt x="197100" y="148788"/>
                  </a:lnTo>
                  <a:lnTo>
                    <a:pt x="200152" y="140811"/>
                  </a:lnTo>
                  <a:lnTo>
                    <a:pt x="201965" y="131262"/>
                  </a:lnTo>
                  <a:lnTo>
                    <a:pt x="202065" y="129413"/>
                  </a:lnTo>
                  <a:lnTo>
                    <a:pt x="202120" y="128397"/>
                  </a:lnTo>
                  <a:lnTo>
                    <a:pt x="202229" y="126365"/>
                  </a:lnTo>
                  <a:lnTo>
                    <a:pt x="202318" y="124714"/>
                  </a:lnTo>
                  <a:lnTo>
                    <a:pt x="202434" y="122555"/>
                  </a:lnTo>
                  <a:lnTo>
                    <a:pt x="202476" y="121793"/>
                  </a:lnTo>
                  <a:lnTo>
                    <a:pt x="202565" y="117983"/>
                  </a:lnTo>
                  <a:close/>
                </a:path>
                <a:path w="476885" h="166370">
                  <a:moveTo>
                    <a:pt x="170434" y="34290"/>
                  </a:moveTo>
                  <a:lnTo>
                    <a:pt x="160909" y="34290"/>
                  </a:lnTo>
                  <a:lnTo>
                    <a:pt x="156210" y="35433"/>
                  </a:lnTo>
                  <a:lnTo>
                    <a:pt x="129154" y="67976"/>
                  </a:lnTo>
                  <a:lnTo>
                    <a:pt x="128143" y="74930"/>
                  </a:lnTo>
                  <a:lnTo>
                    <a:pt x="128143" y="82931"/>
                  </a:lnTo>
                  <a:lnTo>
                    <a:pt x="128702" y="93218"/>
                  </a:lnTo>
                  <a:lnTo>
                    <a:pt x="128710" y="93360"/>
                  </a:lnTo>
                  <a:lnTo>
                    <a:pt x="130397" y="102552"/>
                  </a:lnTo>
                  <a:lnTo>
                    <a:pt x="133129" y="110363"/>
                  </a:lnTo>
                  <a:lnTo>
                    <a:pt x="133179" y="110505"/>
                  </a:lnTo>
                  <a:lnTo>
                    <a:pt x="161162" y="129413"/>
                  </a:lnTo>
                  <a:lnTo>
                    <a:pt x="167132" y="129413"/>
                  </a:lnTo>
                  <a:lnTo>
                    <a:pt x="188341" y="117983"/>
                  </a:lnTo>
                  <a:lnTo>
                    <a:pt x="202565" y="117983"/>
                  </a:lnTo>
                  <a:lnTo>
                    <a:pt x="202565" y="114808"/>
                  </a:lnTo>
                  <a:lnTo>
                    <a:pt x="156718" y="114808"/>
                  </a:lnTo>
                  <a:lnTo>
                    <a:pt x="151257" y="112014"/>
                  </a:lnTo>
                  <a:lnTo>
                    <a:pt x="147828" y="106553"/>
                  </a:lnTo>
                  <a:lnTo>
                    <a:pt x="144526" y="101092"/>
                  </a:lnTo>
                  <a:lnTo>
                    <a:pt x="142904" y="93360"/>
                  </a:lnTo>
                  <a:lnTo>
                    <a:pt x="142875" y="82677"/>
                  </a:lnTo>
                  <a:lnTo>
                    <a:pt x="143295" y="74930"/>
                  </a:lnTo>
                  <a:lnTo>
                    <a:pt x="160274" y="48514"/>
                  </a:lnTo>
                  <a:lnTo>
                    <a:pt x="202565" y="48514"/>
                  </a:lnTo>
                  <a:lnTo>
                    <a:pt x="202565" y="40894"/>
                  </a:lnTo>
                  <a:lnTo>
                    <a:pt x="188341" y="40894"/>
                  </a:lnTo>
                  <a:lnTo>
                    <a:pt x="184658" y="38735"/>
                  </a:lnTo>
                  <a:lnTo>
                    <a:pt x="181229" y="36957"/>
                  </a:lnTo>
                  <a:lnTo>
                    <a:pt x="177927" y="35941"/>
                  </a:lnTo>
                  <a:lnTo>
                    <a:pt x="174625" y="34798"/>
                  </a:lnTo>
                  <a:lnTo>
                    <a:pt x="170434" y="34290"/>
                  </a:lnTo>
                  <a:close/>
                </a:path>
                <a:path w="476885" h="166370">
                  <a:moveTo>
                    <a:pt x="202565" y="48514"/>
                  </a:moveTo>
                  <a:lnTo>
                    <a:pt x="171323" y="48514"/>
                  </a:lnTo>
                  <a:lnTo>
                    <a:pt x="174498" y="48895"/>
                  </a:lnTo>
                  <a:lnTo>
                    <a:pt x="177800" y="49657"/>
                  </a:lnTo>
                  <a:lnTo>
                    <a:pt x="181102" y="50546"/>
                  </a:lnTo>
                  <a:lnTo>
                    <a:pt x="184531" y="51816"/>
                  </a:lnTo>
                  <a:lnTo>
                    <a:pt x="188341" y="53848"/>
                  </a:lnTo>
                  <a:lnTo>
                    <a:pt x="188341" y="105029"/>
                  </a:lnTo>
                  <a:lnTo>
                    <a:pt x="184912" y="107950"/>
                  </a:lnTo>
                  <a:lnTo>
                    <a:pt x="181102" y="110363"/>
                  </a:lnTo>
                  <a:lnTo>
                    <a:pt x="172720" y="113919"/>
                  </a:lnTo>
                  <a:lnTo>
                    <a:pt x="168529" y="114808"/>
                  </a:lnTo>
                  <a:lnTo>
                    <a:pt x="202565" y="114808"/>
                  </a:lnTo>
                  <a:lnTo>
                    <a:pt x="202565" y="48514"/>
                  </a:lnTo>
                  <a:close/>
                </a:path>
                <a:path w="476885" h="166370">
                  <a:moveTo>
                    <a:pt x="202565" y="36830"/>
                  </a:moveTo>
                  <a:lnTo>
                    <a:pt x="189230" y="36830"/>
                  </a:lnTo>
                  <a:lnTo>
                    <a:pt x="188341" y="40894"/>
                  </a:lnTo>
                  <a:lnTo>
                    <a:pt x="202565" y="40894"/>
                  </a:lnTo>
                  <a:lnTo>
                    <a:pt x="202565" y="36830"/>
                  </a:lnTo>
                  <a:close/>
                </a:path>
                <a:path w="476885" h="166370">
                  <a:moveTo>
                    <a:pt x="291901" y="48514"/>
                  </a:moveTo>
                  <a:lnTo>
                    <a:pt x="262001" y="48514"/>
                  </a:lnTo>
                  <a:lnTo>
                    <a:pt x="264922" y="48768"/>
                  </a:lnTo>
                  <a:lnTo>
                    <a:pt x="267716" y="49276"/>
                  </a:lnTo>
                  <a:lnTo>
                    <a:pt x="281559" y="62738"/>
                  </a:lnTo>
                  <a:lnTo>
                    <a:pt x="281559" y="68707"/>
                  </a:lnTo>
                  <a:lnTo>
                    <a:pt x="273304" y="69215"/>
                  </a:lnTo>
                  <a:lnTo>
                    <a:pt x="265557" y="69850"/>
                  </a:lnTo>
                  <a:lnTo>
                    <a:pt x="227965" y="86233"/>
                  </a:lnTo>
                  <a:lnTo>
                    <a:pt x="223901" y="96393"/>
                  </a:lnTo>
                  <a:lnTo>
                    <a:pt x="223901" y="112268"/>
                  </a:lnTo>
                  <a:lnTo>
                    <a:pt x="226568" y="119380"/>
                  </a:lnTo>
                  <a:lnTo>
                    <a:pt x="231902" y="124968"/>
                  </a:lnTo>
                  <a:lnTo>
                    <a:pt x="237109" y="130556"/>
                  </a:lnTo>
                  <a:lnTo>
                    <a:pt x="243586" y="133477"/>
                  </a:lnTo>
                  <a:lnTo>
                    <a:pt x="255397" y="133477"/>
                  </a:lnTo>
                  <a:lnTo>
                    <a:pt x="258953" y="132969"/>
                  </a:lnTo>
                  <a:lnTo>
                    <a:pt x="262001" y="132080"/>
                  </a:lnTo>
                  <a:lnTo>
                    <a:pt x="265176" y="131191"/>
                  </a:lnTo>
                  <a:lnTo>
                    <a:pt x="267843" y="130175"/>
                  </a:lnTo>
                  <a:lnTo>
                    <a:pt x="270256" y="128905"/>
                  </a:lnTo>
                  <a:lnTo>
                    <a:pt x="272288" y="127889"/>
                  </a:lnTo>
                  <a:lnTo>
                    <a:pt x="274320" y="126492"/>
                  </a:lnTo>
                  <a:lnTo>
                    <a:pt x="276312" y="124968"/>
                  </a:lnTo>
                  <a:lnTo>
                    <a:pt x="278638" y="123063"/>
                  </a:lnTo>
                  <a:lnTo>
                    <a:pt x="280289" y="121793"/>
                  </a:lnTo>
                  <a:lnTo>
                    <a:pt x="281559" y="120777"/>
                  </a:lnTo>
                  <a:lnTo>
                    <a:pt x="295656" y="120777"/>
                  </a:lnTo>
                  <a:lnTo>
                    <a:pt x="295656" y="118745"/>
                  </a:lnTo>
                  <a:lnTo>
                    <a:pt x="250317" y="118745"/>
                  </a:lnTo>
                  <a:lnTo>
                    <a:pt x="245872" y="117348"/>
                  </a:lnTo>
                  <a:lnTo>
                    <a:pt x="242951" y="114681"/>
                  </a:lnTo>
                  <a:lnTo>
                    <a:pt x="240030" y="111887"/>
                  </a:lnTo>
                  <a:lnTo>
                    <a:pt x="238633" y="107823"/>
                  </a:lnTo>
                  <a:lnTo>
                    <a:pt x="238633" y="97663"/>
                  </a:lnTo>
                  <a:lnTo>
                    <a:pt x="272161" y="82296"/>
                  </a:lnTo>
                  <a:lnTo>
                    <a:pt x="275971" y="81915"/>
                  </a:lnTo>
                  <a:lnTo>
                    <a:pt x="275082" y="81915"/>
                  </a:lnTo>
                  <a:lnTo>
                    <a:pt x="281559" y="81534"/>
                  </a:lnTo>
                  <a:lnTo>
                    <a:pt x="295656" y="81534"/>
                  </a:lnTo>
                  <a:lnTo>
                    <a:pt x="295656" y="60960"/>
                  </a:lnTo>
                  <a:lnTo>
                    <a:pt x="294894" y="55880"/>
                  </a:lnTo>
                  <a:lnTo>
                    <a:pt x="292004" y="48768"/>
                  </a:lnTo>
                  <a:lnTo>
                    <a:pt x="291901" y="48514"/>
                  </a:lnTo>
                  <a:close/>
                </a:path>
                <a:path w="476885" h="166370">
                  <a:moveTo>
                    <a:pt x="295656" y="120777"/>
                  </a:moveTo>
                  <a:lnTo>
                    <a:pt x="281559" y="120777"/>
                  </a:lnTo>
                  <a:lnTo>
                    <a:pt x="281559" y="130810"/>
                  </a:lnTo>
                  <a:lnTo>
                    <a:pt x="295656" y="130810"/>
                  </a:lnTo>
                  <a:lnTo>
                    <a:pt x="295656" y="120777"/>
                  </a:lnTo>
                  <a:close/>
                </a:path>
                <a:path w="476885" h="166370">
                  <a:moveTo>
                    <a:pt x="295656" y="81534"/>
                  </a:moveTo>
                  <a:lnTo>
                    <a:pt x="281559" y="81534"/>
                  </a:lnTo>
                  <a:lnTo>
                    <a:pt x="281559" y="107823"/>
                  </a:lnTo>
                  <a:lnTo>
                    <a:pt x="281410" y="107823"/>
                  </a:lnTo>
                  <a:lnTo>
                    <a:pt x="278003" y="110744"/>
                  </a:lnTo>
                  <a:lnTo>
                    <a:pt x="274193" y="113284"/>
                  </a:lnTo>
                  <a:lnTo>
                    <a:pt x="270002" y="115443"/>
                  </a:lnTo>
                  <a:lnTo>
                    <a:pt x="265938" y="117602"/>
                  </a:lnTo>
                  <a:lnTo>
                    <a:pt x="261366" y="118745"/>
                  </a:lnTo>
                  <a:lnTo>
                    <a:pt x="295656" y="118745"/>
                  </a:lnTo>
                  <a:lnTo>
                    <a:pt x="295656" y="81534"/>
                  </a:lnTo>
                  <a:close/>
                </a:path>
                <a:path w="476885" h="166370">
                  <a:moveTo>
                    <a:pt x="264922" y="34671"/>
                  </a:moveTo>
                  <a:lnTo>
                    <a:pt x="253873" y="34671"/>
                  </a:lnTo>
                  <a:lnTo>
                    <a:pt x="248666" y="35179"/>
                  </a:lnTo>
                  <a:lnTo>
                    <a:pt x="243459" y="36068"/>
                  </a:lnTo>
                  <a:lnTo>
                    <a:pt x="238125" y="37084"/>
                  </a:lnTo>
                  <a:lnTo>
                    <a:pt x="234187" y="38100"/>
                  </a:lnTo>
                  <a:lnTo>
                    <a:pt x="231394" y="38862"/>
                  </a:lnTo>
                  <a:lnTo>
                    <a:pt x="231394" y="54991"/>
                  </a:lnTo>
                  <a:lnTo>
                    <a:pt x="232156" y="54991"/>
                  </a:lnTo>
                  <a:lnTo>
                    <a:pt x="236982" y="52832"/>
                  </a:lnTo>
                  <a:lnTo>
                    <a:pt x="241808" y="51308"/>
                  </a:lnTo>
                  <a:lnTo>
                    <a:pt x="246380" y="50165"/>
                  </a:lnTo>
                  <a:lnTo>
                    <a:pt x="250952" y="49149"/>
                  </a:lnTo>
                  <a:lnTo>
                    <a:pt x="255143" y="48514"/>
                  </a:lnTo>
                  <a:lnTo>
                    <a:pt x="291901" y="48514"/>
                  </a:lnTo>
                  <a:lnTo>
                    <a:pt x="291592" y="47752"/>
                  </a:lnTo>
                  <a:lnTo>
                    <a:pt x="270129" y="35179"/>
                  </a:lnTo>
                  <a:lnTo>
                    <a:pt x="264922" y="34671"/>
                  </a:lnTo>
                  <a:close/>
                </a:path>
                <a:path w="476885" h="166370">
                  <a:moveTo>
                    <a:pt x="363220" y="34671"/>
                  </a:moveTo>
                  <a:lnTo>
                    <a:pt x="358394" y="34671"/>
                  </a:lnTo>
                  <a:lnTo>
                    <a:pt x="349511" y="35500"/>
                  </a:lnTo>
                  <a:lnTo>
                    <a:pt x="319786" y="63373"/>
                  </a:lnTo>
                  <a:lnTo>
                    <a:pt x="316992" y="83947"/>
                  </a:lnTo>
                  <a:lnTo>
                    <a:pt x="316992" y="92202"/>
                  </a:lnTo>
                  <a:lnTo>
                    <a:pt x="317943" y="98980"/>
                  </a:lnTo>
                  <a:lnTo>
                    <a:pt x="318008" y="99441"/>
                  </a:lnTo>
                  <a:lnTo>
                    <a:pt x="319913" y="105537"/>
                  </a:lnTo>
                  <a:lnTo>
                    <a:pt x="321945" y="111760"/>
                  </a:lnTo>
                  <a:lnTo>
                    <a:pt x="324866" y="116840"/>
                  </a:lnTo>
                  <a:lnTo>
                    <a:pt x="328549" y="120904"/>
                  </a:lnTo>
                  <a:lnTo>
                    <a:pt x="332105" y="124968"/>
                  </a:lnTo>
                  <a:lnTo>
                    <a:pt x="336550" y="127889"/>
                  </a:lnTo>
                  <a:lnTo>
                    <a:pt x="346710" y="131953"/>
                  </a:lnTo>
                  <a:lnTo>
                    <a:pt x="352298" y="132969"/>
                  </a:lnTo>
                  <a:lnTo>
                    <a:pt x="363220" y="132969"/>
                  </a:lnTo>
                  <a:lnTo>
                    <a:pt x="367792" y="132207"/>
                  </a:lnTo>
                  <a:lnTo>
                    <a:pt x="376301" y="129413"/>
                  </a:lnTo>
                  <a:lnTo>
                    <a:pt x="380746" y="127508"/>
                  </a:lnTo>
                  <a:lnTo>
                    <a:pt x="385445" y="124968"/>
                  </a:lnTo>
                  <a:lnTo>
                    <a:pt x="385445" y="119253"/>
                  </a:lnTo>
                  <a:lnTo>
                    <a:pt x="349504" y="119253"/>
                  </a:lnTo>
                  <a:lnTo>
                    <a:pt x="343154" y="116205"/>
                  </a:lnTo>
                  <a:lnTo>
                    <a:pt x="338582" y="110109"/>
                  </a:lnTo>
                  <a:lnTo>
                    <a:pt x="335581" y="105038"/>
                  </a:lnTo>
                  <a:lnTo>
                    <a:pt x="333438" y="98980"/>
                  </a:lnTo>
                  <a:lnTo>
                    <a:pt x="332199" y="92202"/>
                  </a:lnTo>
                  <a:lnTo>
                    <a:pt x="332152" y="91946"/>
                  </a:lnTo>
                  <a:lnTo>
                    <a:pt x="343408" y="51435"/>
                  </a:lnTo>
                  <a:lnTo>
                    <a:pt x="349758" y="48387"/>
                  </a:lnTo>
                  <a:lnTo>
                    <a:pt x="385445" y="48387"/>
                  </a:lnTo>
                  <a:lnTo>
                    <a:pt x="385445" y="42545"/>
                  </a:lnTo>
                  <a:lnTo>
                    <a:pt x="381635" y="40386"/>
                  </a:lnTo>
                  <a:lnTo>
                    <a:pt x="377317" y="38481"/>
                  </a:lnTo>
                  <a:lnTo>
                    <a:pt x="368248" y="35500"/>
                  </a:lnTo>
                  <a:lnTo>
                    <a:pt x="368473" y="35500"/>
                  </a:lnTo>
                  <a:lnTo>
                    <a:pt x="363220" y="34671"/>
                  </a:lnTo>
                  <a:close/>
                </a:path>
                <a:path w="476885" h="166370">
                  <a:moveTo>
                    <a:pt x="385445" y="107569"/>
                  </a:moveTo>
                  <a:lnTo>
                    <a:pt x="384683" y="107569"/>
                  </a:lnTo>
                  <a:lnTo>
                    <a:pt x="383667" y="108458"/>
                  </a:lnTo>
                  <a:lnTo>
                    <a:pt x="382270" y="109601"/>
                  </a:lnTo>
                  <a:lnTo>
                    <a:pt x="380492" y="110871"/>
                  </a:lnTo>
                  <a:lnTo>
                    <a:pt x="378587" y="112268"/>
                  </a:lnTo>
                  <a:lnTo>
                    <a:pt x="376682" y="113538"/>
                  </a:lnTo>
                  <a:lnTo>
                    <a:pt x="360680" y="119253"/>
                  </a:lnTo>
                  <a:lnTo>
                    <a:pt x="385445" y="119253"/>
                  </a:lnTo>
                  <a:lnTo>
                    <a:pt x="385445" y="107569"/>
                  </a:lnTo>
                  <a:close/>
                </a:path>
                <a:path w="476885" h="166370">
                  <a:moveTo>
                    <a:pt x="385445" y="48387"/>
                  </a:moveTo>
                  <a:lnTo>
                    <a:pt x="362204" y="48387"/>
                  </a:lnTo>
                  <a:lnTo>
                    <a:pt x="366649" y="49403"/>
                  </a:lnTo>
                  <a:lnTo>
                    <a:pt x="371348" y="51435"/>
                  </a:lnTo>
                  <a:lnTo>
                    <a:pt x="375920" y="53467"/>
                  </a:lnTo>
                  <a:lnTo>
                    <a:pt x="380365" y="56388"/>
                  </a:lnTo>
                  <a:lnTo>
                    <a:pt x="384683" y="60071"/>
                  </a:lnTo>
                  <a:lnTo>
                    <a:pt x="385445" y="60071"/>
                  </a:lnTo>
                  <a:lnTo>
                    <a:pt x="385445" y="48387"/>
                  </a:lnTo>
                  <a:close/>
                </a:path>
                <a:path w="476885" h="166370">
                  <a:moveTo>
                    <a:pt x="409829" y="36830"/>
                  </a:moveTo>
                  <a:lnTo>
                    <a:pt x="394335" y="36830"/>
                  </a:lnTo>
                  <a:lnTo>
                    <a:pt x="428117" y="126238"/>
                  </a:lnTo>
                  <a:lnTo>
                    <a:pt x="412369" y="165481"/>
                  </a:lnTo>
                  <a:lnTo>
                    <a:pt x="427482" y="165481"/>
                  </a:lnTo>
                  <a:lnTo>
                    <a:pt x="450110" y="106553"/>
                  </a:lnTo>
                  <a:lnTo>
                    <a:pt x="435737" y="106553"/>
                  </a:lnTo>
                  <a:lnTo>
                    <a:pt x="409829" y="36830"/>
                  </a:lnTo>
                  <a:close/>
                </a:path>
                <a:path w="476885" h="166370">
                  <a:moveTo>
                    <a:pt x="476885" y="36830"/>
                  </a:moveTo>
                  <a:lnTo>
                    <a:pt x="461899" y="36830"/>
                  </a:lnTo>
                  <a:lnTo>
                    <a:pt x="435737" y="106553"/>
                  </a:lnTo>
                  <a:lnTo>
                    <a:pt x="450110" y="106553"/>
                  </a:lnTo>
                  <a:lnTo>
                    <a:pt x="476885" y="36830"/>
                  </a:lnTo>
                  <a:close/>
                </a:path>
              </a:pathLst>
            </a:custGeom>
            <a:solidFill>
              <a:srgbClr val="E3DF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830573" y="3932174"/>
              <a:ext cx="1331467" cy="165481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834644" y="2270887"/>
            <a:ext cx="2507615" cy="2117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60" b="1">
                <a:solidFill>
                  <a:srgbClr val="E3DFDE"/>
                </a:solidFill>
                <a:latin typeface="Tahoma"/>
                <a:cs typeface="Tahoma"/>
              </a:rPr>
              <a:t>Current</a:t>
            </a:r>
            <a:r>
              <a:rPr dirty="0" sz="1650" spc="-160" b="1">
                <a:solidFill>
                  <a:srgbClr val="E3DFDE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3DFDE"/>
                </a:solidFill>
                <a:latin typeface="Tahoma"/>
                <a:cs typeface="Tahoma"/>
              </a:rPr>
              <a:t>Challenges</a:t>
            </a:r>
            <a:endParaRPr sz="1650">
              <a:latin typeface="Tahoma"/>
              <a:cs typeface="Tahoma"/>
            </a:endParaRPr>
          </a:p>
          <a:p>
            <a:pPr marL="287020" marR="5080">
              <a:lnSpc>
                <a:spcPct val="296400"/>
              </a:lnSpc>
              <a:spcBef>
                <a:spcPts val="95"/>
              </a:spcBef>
            </a:pP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requiring</a:t>
            </a:r>
            <a:r>
              <a:rPr dirty="0" sz="1350" spc="-13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3DFDE"/>
                </a:solidFill>
                <a:latin typeface="Verdana"/>
                <a:cs typeface="Verdana"/>
              </a:rPr>
              <a:t>manual</a:t>
            </a:r>
            <a:r>
              <a:rPr dirty="0" sz="1350" spc="-14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3DFDE"/>
                </a:solidFill>
                <a:latin typeface="Verdana"/>
                <a:cs typeface="Verdana"/>
              </a:rPr>
              <a:t>validation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simultaneously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1350">
              <a:latin typeface="Verdana"/>
              <a:cs typeface="Verdana"/>
            </a:endParaRPr>
          </a:p>
          <a:p>
            <a:pPr marL="287020">
              <a:lnSpc>
                <a:spcPct val="100000"/>
              </a:lnSpc>
            </a:pPr>
            <a:r>
              <a:rPr dirty="0" sz="1350" spc="-20">
                <a:solidFill>
                  <a:srgbClr val="E3DFDE"/>
                </a:solidFill>
                <a:latin typeface="Verdana"/>
                <a:cs typeface="Verdana"/>
              </a:rPr>
              <a:t>SIEM</a:t>
            </a:r>
            <a:r>
              <a:rPr dirty="0" sz="1350" spc="-14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platforms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1136802" y="4543298"/>
            <a:ext cx="4134485" cy="166370"/>
            <a:chOff x="1136802" y="4543298"/>
            <a:chExt cx="4134485" cy="166370"/>
          </a:xfrm>
        </p:grpSpPr>
        <p:sp>
          <p:nvSpPr>
            <p:cNvPr id="24" name="object 24" descr=""/>
            <p:cNvSpPr/>
            <p:nvPr/>
          </p:nvSpPr>
          <p:spPr>
            <a:xfrm>
              <a:off x="1136802" y="4543298"/>
              <a:ext cx="299720" cy="133985"/>
            </a:xfrm>
            <a:custGeom>
              <a:avLst/>
              <a:gdLst/>
              <a:ahLst/>
              <a:cxnLst/>
              <a:rect l="l" t="t" r="r" b="b"/>
              <a:pathLst>
                <a:path w="299719" h="133985">
                  <a:moveTo>
                    <a:pt x="38366" y="5587"/>
                  </a:moveTo>
                  <a:lnTo>
                    <a:pt x="0" y="5587"/>
                  </a:lnTo>
                  <a:lnTo>
                    <a:pt x="0" y="130810"/>
                  </a:lnTo>
                  <a:lnTo>
                    <a:pt x="14985" y="130810"/>
                  </a:lnTo>
                  <a:lnTo>
                    <a:pt x="14985" y="81025"/>
                  </a:lnTo>
                  <a:lnTo>
                    <a:pt x="54685" y="81025"/>
                  </a:lnTo>
                  <a:lnTo>
                    <a:pt x="50850" y="76073"/>
                  </a:lnTo>
                  <a:lnTo>
                    <a:pt x="58013" y="73025"/>
                  </a:lnTo>
                  <a:lnTo>
                    <a:pt x="63639" y="68453"/>
                  </a:lnTo>
                  <a:lnTo>
                    <a:pt x="64491" y="67183"/>
                  </a:lnTo>
                  <a:lnTo>
                    <a:pt x="14985" y="67183"/>
                  </a:lnTo>
                  <a:lnTo>
                    <a:pt x="14985" y="19939"/>
                  </a:lnTo>
                  <a:lnTo>
                    <a:pt x="68729" y="19939"/>
                  </a:lnTo>
                  <a:lnTo>
                    <a:pt x="68122" y="18796"/>
                  </a:lnTo>
                  <a:lnTo>
                    <a:pt x="48577" y="7112"/>
                  </a:lnTo>
                  <a:lnTo>
                    <a:pt x="44043" y="6096"/>
                  </a:lnTo>
                  <a:lnTo>
                    <a:pt x="38366" y="5587"/>
                  </a:lnTo>
                  <a:close/>
                </a:path>
                <a:path w="299719" h="133985">
                  <a:moveTo>
                    <a:pt x="54685" y="81025"/>
                  </a:moveTo>
                  <a:lnTo>
                    <a:pt x="36093" y="81025"/>
                  </a:lnTo>
                  <a:lnTo>
                    <a:pt x="73787" y="130810"/>
                  </a:lnTo>
                  <a:lnTo>
                    <a:pt x="93230" y="130810"/>
                  </a:lnTo>
                  <a:lnTo>
                    <a:pt x="54685" y="81025"/>
                  </a:lnTo>
                  <a:close/>
                </a:path>
                <a:path w="299719" h="133985">
                  <a:moveTo>
                    <a:pt x="68729" y="19939"/>
                  </a:moveTo>
                  <a:lnTo>
                    <a:pt x="36652" y="19939"/>
                  </a:lnTo>
                  <a:lnTo>
                    <a:pt x="40157" y="20193"/>
                  </a:lnTo>
                  <a:lnTo>
                    <a:pt x="46113" y="21462"/>
                  </a:lnTo>
                  <a:lnTo>
                    <a:pt x="48679" y="22606"/>
                  </a:lnTo>
                  <a:lnTo>
                    <a:pt x="50850" y="24256"/>
                  </a:lnTo>
                  <a:lnTo>
                    <a:pt x="53479" y="26162"/>
                  </a:lnTo>
                  <a:lnTo>
                    <a:pt x="55359" y="28575"/>
                  </a:lnTo>
                  <a:lnTo>
                    <a:pt x="56489" y="31242"/>
                  </a:lnTo>
                  <a:lnTo>
                    <a:pt x="57632" y="34036"/>
                  </a:lnTo>
                  <a:lnTo>
                    <a:pt x="58191" y="37211"/>
                  </a:lnTo>
                  <a:lnTo>
                    <a:pt x="58191" y="45593"/>
                  </a:lnTo>
                  <a:lnTo>
                    <a:pt x="57764" y="48641"/>
                  </a:lnTo>
                  <a:lnTo>
                    <a:pt x="57658" y="49403"/>
                  </a:lnTo>
                  <a:lnTo>
                    <a:pt x="55486" y="55499"/>
                  </a:lnTo>
                  <a:lnTo>
                    <a:pt x="53809" y="58293"/>
                  </a:lnTo>
                  <a:lnTo>
                    <a:pt x="51536" y="60579"/>
                  </a:lnTo>
                  <a:lnTo>
                    <a:pt x="49060" y="63118"/>
                  </a:lnTo>
                  <a:lnTo>
                    <a:pt x="46062" y="64897"/>
                  </a:lnTo>
                  <a:lnTo>
                    <a:pt x="39001" y="66675"/>
                  </a:lnTo>
                  <a:lnTo>
                    <a:pt x="34861" y="67183"/>
                  </a:lnTo>
                  <a:lnTo>
                    <a:pt x="64491" y="67183"/>
                  </a:lnTo>
                  <a:lnTo>
                    <a:pt x="71818" y="56261"/>
                  </a:lnTo>
                  <a:lnTo>
                    <a:pt x="73863" y="48641"/>
                  </a:lnTo>
                  <a:lnTo>
                    <a:pt x="73863" y="33020"/>
                  </a:lnTo>
                  <a:lnTo>
                    <a:pt x="72707" y="27431"/>
                  </a:lnTo>
                  <a:lnTo>
                    <a:pt x="68729" y="19939"/>
                  </a:lnTo>
                  <a:close/>
                </a:path>
                <a:path w="299719" h="133985">
                  <a:moveTo>
                    <a:pt x="139166" y="34290"/>
                  </a:moveTo>
                  <a:lnTo>
                    <a:pt x="104409" y="55183"/>
                  </a:lnTo>
                  <a:lnTo>
                    <a:pt x="98043" y="84455"/>
                  </a:lnTo>
                  <a:lnTo>
                    <a:pt x="98781" y="95410"/>
                  </a:lnTo>
                  <a:lnTo>
                    <a:pt x="100962" y="104902"/>
                  </a:lnTo>
                  <a:lnTo>
                    <a:pt x="100995" y="105044"/>
                  </a:lnTo>
                  <a:lnTo>
                    <a:pt x="132850" y="132206"/>
                  </a:lnTo>
                  <a:lnTo>
                    <a:pt x="133063" y="132206"/>
                  </a:lnTo>
                  <a:lnTo>
                    <a:pt x="142722" y="132969"/>
                  </a:lnTo>
                  <a:lnTo>
                    <a:pt x="148183" y="132969"/>
                  </a:lnTo>
                  <a:lnTo>
                    <a:pt x="153390" y="132206"/>
                  </a:lnTo>
                  <a:lnTo>
                    <a:pt x="163423" y="129159"/>
                  </a:lnTo>
                  <a:lnTo>
                    <a:pt x="168376" y="127381"/>
                  </a:lnTo>
                  <a:lnTo>
                    <a:pt x="173075" y="125095"/>
                  </a:lnTo>
                  <a:lnTo>
                    <a:pt x="173075" y="119253"/>
                  </a:lnTo>
                  <a:lnTo>
                    <a:pt x="138150" y="119253"/>
                  </a:lnTo>
                  <a:lnTo>
                    <a:pt x="134213" y="118491"/>
                  </a:lnTo>
                  <a:lnTo>
                    <a:pt x="116497" y="105044"/>
                  </a:lnTo>
                  <a:lnTo>
                    <a:pt x="116408" y="104902"/>
                  </a:lnTo>
                  <a:lnTo>
                    <a:pt x="113271" y="96266"/>
                  </a:lnTo>
                  <a:lnTo>
                    <a:pt x="112496" y="91312"/>
                  </a:lnTo>
                  <a:lnTo>
                    <a:pt x="112496" y="85471"/>
                  </a:lnTo>
                  <a:lnTo>
                    <a:pt x="174726" y="85471"/>
                  </a:lnTo>
                  <a:lnTo>
                    <a:pt x="174726" y="76962"/>
                  </a:lnTo>
                  <a:lnTo>
                    <a:pt x="174522" y="73523"/>
                  </a:lnTo>
                  <a:lnTo>
                    <a:pt x="112487" y="73523"/>
                  </a:lnTo>
                  <a:lnTo>
                    <a:pt x="112992" y="67288"/>
                  </a:lnTo>
                  <a:lnTo>
                    <a:pt x="130759" y="47371"/>
                  </a:lnTo>
                  <a:lnTo>
                    <a:pt x="166796" y="47371"/>
                  </a:lnTo>
                  <a:lnTo>
                    <a:pt x="165455" y="45339"/>
                  </a:lnTo>
                  <a:lnTo>
                    <a:pt x="160383" y="40505"/>
                  </a:lnTo>
                  <a:lnTo>
                    <a:pt x="154311" y="37052"/>
                  </a:lnTo>
                  <a:lnTo>
                    <a:pt x="147239" y="34980"/>
                  </a:lnTo>
                  <a:lnTo>
                    <a:pt x="139166" y="34290"/>
                  </a:lnTo>
                  <a:close/>
                </a:path>
                <a:path w="299719" h="133985">
                  <a:moveTo>
                    <a:pt x="173075" y="107823"/>
                  </a:moveTo>
                  <a:lnTo>
                    <a:pt x="172313" y="107823"/>
                  </a:lnTo>
                  <a:lnTo>
                    <a:pt x="169900" y="110362"/>
                  </a:lnTo>
                  <a:lnTo>
                    <a:pt x="165709" y="112775"/>
                  </a:lnTo>
                  <a:lnTo>
                    <a:pt x="159867" y="115316"/>
                  </a:lnTo>
                  <a:lnTo>
                    <a:pt x="154025" y="117983"/>
                  </a:lnTo>
                  <a:lnTo>
                    <a:pt x="148310" y="119253"/>
                  </a:lnTo>
                  <a:lnTo>
                    <a:pt x="173075" y="119253"/>
                  </a:lnTo>
                  <a:lnTo>
                    <a:pt x="173075" y="107823"/>
                  </a:lnTo>
                  <a:close/>
                </a:path>
                <a:path w="299719" h="133985">
                  <a:moveTo>
                    <a:pt x="166796" y="47371"/>
                  </a:moveTo>
                  <a:lnTo>
                    <a:pt x="145897" y="47371"/>
                  </a:lnTo>
                  <a:lnTo>
                    <a:pt x="151612" y="49530"/>
                  </a:lnTo>
                  <a:lnTo>
                    <a:pt x="158978" y="58674"/>
                  </a:lnTo>
                  <a:lnTo>
                    <a:pt x="160883" y="65024"/>
                  </a:lnTo>
                  <a:lnTo>
                    <a:pt x="160883" y="73523"/>
                  </a:lnTo>
                  <a:lnTo>
                    <a:pt x="174522" y="73523"/>
                  </a:lnTo>
                  <a:lnTo>
                    <a:pt x="174153" y="67288"/>
                  </a:lnTo>
                  <a:lnTo>
                    <a:pt x="172424" y="58816"/>
                  </a:lnTo>
                  <a:lnTo>
                    <a:pt x="169529" y="51512"/>
                  </a:lnTo>
                  <a:lnTo>
                    <a:pt x="166796" y="47371"/>
                  </a:lnTo>
                  <a:close/>
                </a:path>
                <a:path w="299719" h="133985">
                  <a:moveTo>
                    <a:pt x="257332" y="48514"/>
                  </a:moveTo>
                  <a:lnTo>
                    <a:pt x="227431" y="48514"/>
                  </a:lnTo>
                  <a:lnTo>
                    <a:pt x="230352" y="48768"/>
                  </a:lnTo>
                  <a:lnTo>
                    <a:pt x="233146" y="49275"/>
                  </a:lnTo>
                  <a:lnTo>
                    <a:pt x="246989" y="62737"/>
                  </a:lnTo>
                  <a:lnTo>
                    <a:pt x="246989" y="68706"/>
                  </a:lnTo>
                  <a:lnTo>
                    <a:pt x="238734" y="69215"/>
                  </a:lnTo>
                  <a:lnTo>
                    <a:pt x="230987" y="69850"/>
                  </a:lnTo>
                  <a:lnTo>
                    <a:pt x="193395" y="86233"/>
                  </a:lnTo>
                  <a:lnTo>
                    <a:pt x="189331" y="96393"/>
                  </a:lnTo>
                  <a:lnTo>
                    <a:pt x="189331" y="112268"/>
                  </a:lnTo>
                  <a:lnTo>
                    <a:pt x="191998" y="119380"/>
                  </a:lnTo>
                  <a:lnTo>
                    <a:pt x="197332" y="124968"/>
                  </a:lnTo>
                  <a:lnTo>
                    <a:pt x="202539" y="130556"/>
                  </a:lnTo>
                  <a:lnTo>
                    <a:pt x="209016" y="133477"/>
                  </a:lnTo>
                  <a:lnTo>
                    <a:pt x="220827" y="133477"/>
                  </a:lnTo>
                  <a:lnTo>
                    <a:pt x="224383" y="132969"/>
                  </a:lnTo>
                  <a:lnTo>
                    <a:pt x="227431" y="132080"/>
                  </a:lnTo>
                  <a:lnTo>
                    <a:pt x="230606" y="131191"/>
                  </a:lnTo>
                  <a:lnTo>
                    <a:pt x="233273" y="130175"/>
                  </a:lnTo>
                  <a:lnTo>
                    <a:pt x="235686" y="128905"/>
                  </a:lnTo>
                  <a:lnTo>
                    <a:pt x="237718" y="127889"/>
                  </a:lnTo>
                  <a:lnTo>
                    <a:pt x="239750" y="126492"/>
                  </a:lnTo>
                  <a:lnTo>
                    <a:pt x="241743" y="124968"/>
                  </a:lnTo>
                  <a:lnTo>
                    <a:pt x="244068" y="123062"/>
                  </a:lnTo>
                  <a:lnTo>
                    <a:pt x="245719" y="121793"/>
                  </a:lnTo>
                  <a:lnTo>
                    <a:pt x="246989" y="120777"/>
                  </a:lnTo>
                  <a:lnTo>
                    <a:pt x="261086" y="120777"/>
                  </a:lnTo>
                  <a:lnTo>
                    <a:pt x="261086" y="118745"/>
                  </a:lnTo>
                  <a:lnTo>
                    <a:pt x="215747" y="118745"/>
                  </a:lnTo>
                  <a:lnTo>
                    <a:pt x="211302" y="117348"/>
                  </a:lnTo>
                  <a:lnTo>
                    <a:pt x="208381" y="114681"/>
                  </a:lnTo>
                  <a:lnTo>
                    <a:pt x="205460" y="111887"/>
                  </a:lnTo>
                  <a:lnTo>
                    <a:pt x="204063" y="107823"/>
                  </a:lnTo>
                  <a:lnTo>
                    <a:pt x="204063" y="97662"/>
                  </a:lnTo>
                  <a:lnTo>
                    <a:pt x="237591" y="82296"/>
                  </a:lnTo>
                  <a:lnTo>
                    <a:pt x="242671" y="81787"/>
                  </a:lnTo>
                  <a:lnTo>
                    <a:pt x="246989" y="81534"/>
                  </a:lnTo>
                  <a:lnTo>
                    <a:pt x="261086" y="81534"/>
                  </a:lnTo>
                  <a:lnTo>
                    <a:pt x="261086" y="60960"/>
                  </a:lnTo>
                  <a:lnTo>
                    <a:pt x="260324" y="55880"/>
                  </a:lnTo>
                  <a:lnTo>
                    <a:pt x="257435" y="48768"/>
                  </a:lnTo>
                  <a:lnTo>
                    <a:pt x="257332" y="48514"/>
                  </a:lnTo>
                  <a:close/>
                </a:path>
                <a:path w="299719" h="133985">
                  <a:moveTo>
                    <a:pt x="261086" y="120777"/>
                  </a:moveTo>
                  <a:lnTo>
                    <a:pt x="246989" y="120777"/>
                  </a:lnTo>
                  <a:lnTo>
                    <a:pt x="246989" y="130810"/>
                  </a:lnTo>
                  <a:lnTo>
                    <a:pt x="261086" y="130810"/>
                  </a:lnTo>
                  <a:lnTo>
                    <a:pt x="261086" y="120777"/>
                  </a:lnTo>
                  <a:close/>
                </a:path>
                <a:path w="299719" h="133985">
                  <a:moveTo>
                    <a:pt x="261086" y="81534"/>
                  </a:moveTo>
                  <a:lnTo>
                    <a:pt x="246989" y="81534"/>
                  </a:lnTo>
                  <a:lnTo>
                    <a:pt x="246989" y="107823"/>
                  </a:lnTo>
                  <a:lnTo>
                    <a:pt x="246841" y="107823"/>
                  </a:lnTo>
                  <a:lnTo>
                    <a:pt x="243433" y="110743"/>
                  </a:lnTo>
                  <a:lnTo>
                    <a:pt x="239623" y="113284"/>
                  </a:lnTo>
                  <a:lnTo>
                    <a:pt x="235432" y="115443"/>
                  </a:lnTo>
                  <a:lnTo>
                    <a:pt x="231368" y="117602"/>
                  </a:lnTo>
                  <a:lnTo>
                    <a:pt x="226796" y="118745"/>
                  </a:lnTo>
                  <a:lnTo>
                    <a:pt x="261086" y="118745"/>
                  </a:lnTo>
                  <a:lnTo>
                    <a:pt x="261086" y="81534"/>
                  </a:lnTo>
                  <a:close/>
                </a:path>
                <a:path w="299719" h="133985">
                  <a:moveTo>
                    <a:pt x="230352" y="34671"/>
                  </a:moveTo>
                  <a:lnTo>
                    <a:pt x="219303" y="34671"/>
                  </a:lnTo>
                  <a:lnTo>
                    <a:pt x="214096" y="35179"/>
                  </a:lnTo>
                  <a:lnTo>
                    <a:pt x="208889" y="36068"/>
                  </a:lnTo>
                  <a:lnTo>
                    <a:pt x="203555" y="37084"/>
                  </a:lnTo>
                  <a:lnTo>
                    <a:pt x="199618" y="38100"/>
                  </a:lnTo>
                  <a:lnTo>
                    <a:pt x="196824" y="38862"/>
                  </a:lnTo>
                  <a:lnTo>
                    <a:pt x="196824" y="54991"/>
                  </a:lnTo>
                  <a:lnTo>
                    <a:pt x="197586" y="54991"/>
                  </a:lnTo>
                  <a:lnTo>
                    <a:pt x="202412" y="52831"/>
                  </a:lnTo>
                  <a:lnTo>
                    <a:pt x="207238" y="51308"/>
                  </a:lnTo>
                  <a:lnTo>
                    <a:pt x="211810" y="50165"/>
                  </a:lnTo>
                  <a:lnTo>
                    <a:pt x="215811" y="49275"/>
                  </a:lnTo>
                  <a:lnTo>
                    <a:pt x="215544" y="49275"/>
                  </a:lnTo>
                  <a:lnTo>
                    <a:pt x="220573" y="48514"/>
                  </a:lnTo>
                  <a:lnTo>
                    <a:pt x="257332" y="48514"/>
                  </a:lnTo>
                  <a:lnTo>
                    <a:pt x="257022" y="47752"/>
                  </a:lnTo>
                  <a:lnTo>
                    <a:pt x="235559" y="35179"/>
                  </a:lnTo>
                  <a:lnTo>
                    <a:pt x="230352" y="34671"/>
                  </a:lnTo>
                  <a:close/>
                </a:path>
                <a:path w="299719" h="133985">
                  <a:moveTo>
                    <a:pt x="299694" y="0"/>
                  </a:moveTo>
                  <a:lnTo>
                    <a:pt x="285470" y="0"/>
                  </a:lnTo>
                  <a:lnTo>
                    <a:pt x="285470" y="130810"/>
                  </a:lnTo>
                  <a:lnTo>
                    <a:pt x="299694" y="130810"/>
                  </a:lnTo>
                  <a:lnTo>
                    <a:pt x="299694" y="0"/>
                  </a:lnTo>
                  <a:close/>
                </a:path>
              </a:pathLst>
            </a:custGeom>
            <a:solidFill>
              <a:srgbClr val="E3DF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60881" y="4543298"/>
              <a:ext cx="898270" cy="133477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16555" y="4543298"/>
              <a:ext cx="1141983" cy="166370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3622802" y="4553204"/>
              <a:ext cx="285750" cy="123825"/>
            </a:xfrm>
            <a:custGeom>
              <a:avLst/>
              <a:gdLst/>
              <a:ahLst/>
              <a:cxnLst/>
              <a:rect l="l" t="t" r="r" b="b"/>
              <a:pathLst>
                <a:path w="285750" h="123825">
                  <a:moveTo>
                    <a:pt x="14224" y="27051"/>
                  </a:moveTo>
                  <a:lnTo>
                    <a:pt x="0" y="27051"/>
                  </a:lnTo>
                  <a:lnTo>
                    <a:pt x="0" y="120904"/>
                  </a:lnTo>
                  <a:lnTo>
                    <a:pt x="14224" y="120904"/>
                  </a:lnTo>
                  <a:lnTo>
                    <a:pt x="14224" y="54229"/>
                  </a:lnTo>
                  <a:lnTo>
                    <a:pt x="18034" y="50800"/>
                  </a:lnTo>
                  <a:lnTo>
                    <a:pt x="21971" y="48006"/>
                  </a:lnTo>
                  <a:lnTo>
                    <a:pt x="30099" y="43688"/>
                  </a:lnTo>
                  <a:lnTo>
                    <a:pt x="33877" y="42799"/>
                  </a:lnTo>
                  <a:lnTo>
                    <a:pt x="52832" y="42799"/>
                  </a:lnTo>
                  <a:lnTo>
                    <a:pt x="52832" y="40894"/>
                  </a:lnTo>
                  <a:lnTo>
                    <a:pt x="14224" y="40894"/>
                  </a:lnTo>
                  <a:lnTo>
                    <a:pt x="14224" y="27051"/>
                  </a:lnTo>
                  <a:close/>
                </a:path>
                <a:path w="285750" h="123825">
                  <a:moveTo>
                    <a:pt x="52832" y="42799"/>
                  </a:moveTo>
                  <a:lnTo>
                    <a:pt x="43814" y="42799"/>
                  </a:lnTo>
                  <a:lnTo>
                    <a:pt x="47878" y="43307"/>
                  </a:lnTo>
                  <a:lnTo>
                    <a:pt x="49911" y="43688"/>
                  </a:lnTo>
                  <a:lnTo>
                    <a:pt x="52070" y="44196"/>
                  </a:lnTo>
                  <a:lnTo>
                    <a:pt x="52832" y="44196"/>
                  </a:lnTo>
                  <a:lnTo>
                    <a:pt x="52832" y="42799"/>
                  </a:lnTo>
                  <a:close/>
                </a:path>
                <a:path w="285750" h="123825">
                  <a:moveTo>
                    <a:pt x="46608" y="27051"/>
                  </a:moveTo>
                  <a:lnTo>
                    <a:pt x="37479" y="27051"/>
                  </a:lnTo>
                  <a:lnTo>
                    <a:pt x="33527" y="28067"/>
                  </a:lnTo>
                  <a:lnTo>
                    <a:pt x="29210" y="30099"/>
                  </a:lnTo>
                  <a:lnTo>
                    <a:pt x="24892" y="32258"/>
                  </a:lnTo>
                  <a:lnTo>
                    <a:pt x="19938" y="35814"/>
                  </a:lnTo>
                  <a:lnTo>
                    <a:pt x="14224" y="40894"/>
                  </a:lnTo>
                  <a:lnTo>
                    <a:pt x="52832" y="40894"/>
                  </a:lnTo>
                  <a:lnTo>
                    <a:pt x="52832" y="28067"/>
                  </a:lnTo>
                  <a:lnTo>
                    <a:pt x="53619" y="28067"/>
                  </a:lnTo>
                  <a:lnTo>
                    <a:pt x="48895" y="27305"/>
                  </a:lnTo>
                  <a:lnTo>
                    <a:pt x="46608" y="27051"/>
                  </a:lnTo>
                  <a:close/>
                </a:path>
                <a:path w="285750" h="123825">
                  <a:moveTo>
                    <a:pt x="127436" y="38608"/>
                  </a:moveTo>
                  <a:lnTo>
                    <a:pt x="97536" y="38608"/>
                  </a:lnTo>
                  <a:lnTo>
                    <a:pt x="100457" y="38862"/>
                  </a:lnTo>
                  <a:lnTo>
                    <a:pt x="103250" y="39370"/>
                  </a:lnTo>
                  <a:lnTo>
                    <a:pt x="117094" y="52832"/>
                  </a:lnTo>
                  <a:lnTo>
                    <a:pt x="117094" y="58801"/>
                  </a:lnTo>
                  <a:lnTo>
                    <a:pt x="108838" y="59309"/>
                  </a:lnTo>
                  <a:lnTo>
                    <a:pt x="101092" y="59944"/>
                  </a:lnTo>
                  <a:lnTo>
                    <a:pt x="63500" y="76327"/>
                  </a:lnTo>
                  <a:lnTo>
                    <a:pt x="59436" y="86487"/>
                  </a:lnTo>
                  <a:lnTo>
                    <a:pt x="59436" y="102362"/>
                  </a:lnTo>
                  <a:lnTo>
                    <a:pt x="62102" y="109474"/>
                  </a:lnTo>
                  <a:lnTo>
                    <a:pt x="67437" y="115062"/>
                  </a:lnTo>
                  <a:lnTo>
                    <a:pt x="72644" y="120650"/>
                  </a:lnTo>
                  <a:lnTo>
                    <a:pt x="79121" y="123571"/>
                  </a:lnTo>
                  <a:lnTo>
                    <a:pt x="90932" y="123571"/>
                  </a:lnTo>
                  <a:lnTo>
                    <a:pt x="94487" y="123063"/>
                  </a:lnTo>
                  <a:lnTo>
                    <a:pt x="97536" y="122174"/>
                  </a:lnTo>
                  <a:lnTo>
                    <a:pt x="100711" y="121285"/>
                  </a:lnTo>
                  <a:lnTo>
                    <a:pt x="103377" y="120269"/>
                  </a:lnTo>
                  <a:lnTo>
                    <a:pt x="105790" y="118999"/>
                  </a:lnTo>
                  <a:lnTo>
                    <a:pt x="107823" y="117983"/>
                  </a:lnTo>
                  <a:lnTo>
                    <a:pt x="109855" y="116586"/>
                  </a:lnTo>
                  <a:lnTo>
                    <a:pt x="111847" y="115062"/>
                  </a:lnTo>
                  <a:lnTo>
                    <a:pt x="114173" y="113157"/>
                  </a:lnTo>
                  <a:lnTo>
                    <a:pt x="115824" y="111887"/>
                  </a:lnTo>
                  <a:lnTo>
                    <a:pt x="117094" y="110871"/>
                  </a:lnTo>
                  <a:lnTo>
                    <a:pt x="131190" y="110871"/>
                  </a:lnTo>
                  <a:lnTo>
                    <a:pt x="131190" y="108839"/>
                  </a:lnTo>
                  <a:lnTo>
                    <a:pt x="85851" y="108839"/>
                  </a:lnTo>
                  <a:lnTo>
                    <a:pt x="81407" y="107442"/>
                  </a:lnTo>
                  <a:lnTo>
                    <a:pt x="78486" y="104775"/>
                  </a:lnTo>
                  <a:lnTo>
                    <a:pt x="75564" y="101981"/>
                  </a:lnTo>
                  <a:lnTo>
                    <a:pt x="74168" y="97917"/>
                  </a:lnTo>
                  <a:lnTo>
                    <a:pt x="74168" y="87757"/>
                  </a:lnTo>
                  <a:lnTo>
                    <a:pt x="107696" y="72390"/>
                  </a:lnTo>
                  <a:lnTo>
                    <a:pt x="112775" y="71882"/>
                  </a:lnTo>
                  <a:lnTo>
                    <a:pt x="117094" y="71628"/>
                  </a:lnTo>
                  <a:lnTo>
                    <a:pt x="131190" y="71628"/>
                  </a:lnTo>
                  <a:lnTo>
                    <a:pt x="131190" y="51054"/>
                  </a:lnTo>
                  <a:lnTo>
                    <a:pt x="130428" y="45974"/>
                  </a:lnTo>
                  <a:lnTo>
                    <a:pt x="127539" y="38862"/>
                  </a:lnTo>
                  <a:lnTo>
                    <a:pt x="127436" y="38608"/>
                  </a:lnTo>
                  <a:close/>
                </a:path>
                <a:path w="285750" h="123825">
                  <a:moveTo>
                    <a:pt x="131190" y="110871"/>
                  </a:moveTo>
                  <a:lnTo>
                    <a:pt x="117094" y="110871"/>
                  </a:lnTo>
                  <a:lnTo>
                    <a:pt x="117094" y="120904"/>
                  </a:lnTo>
                  <a:lnTo>
                    <a:pt x="131190" y="120904"/>
                  </a:lnTo>
                  <a:lnTo>
                    <a:pt x="131190" y="110871"/>
                  </a:lnTo>
                  <a:close/>
                </a:path>
                <a:path w="285750" h="123825">
                  <a:moveTo>
                    <a:pt x="131190" y="71628"/>
                  </a:moveTo>
                  <a:lnTo>
                    <a:pt x="117094" y="71628"/>
                  </a:lnTo>
                  <a:lnTo>
                    <a:pt x="117094" y="97917"/>
                  </a:lnTo>
                  <a:lnTo>
                    <a:pt x="116945" y="97917"/>
                  </a:lnTo>
                  <a:lnTo>
                    <a:pt x="113537" y="100838"/>
                  </a:lnTo>
                  <a:lnTo>
                    <a:pt x="109727" y="103378"/>
                  </a:lnTo>
                  <a:lnTo>
                    <a:pt x="105537" y="105537"/>
                  </a:lnTo>
                  <a:lnTo>
                    <a:pt x="101473" y="107696"/>
                  </a:lnTo>
                  <a:lnTo>
                    <a:pt x="96900" y="108839"/>
                  </a:lnTo>
                  <a:lnTo>
                    <a:pt x="131190" y="108839"/>
                  </a:lnTo>
                  <a:lnTo>
                    <a:pt x="131190" y="71628"/>
                  </a:lnTo>
                  <a:close/>
                </a:path>
                <a:path w="285750" h="123825">
                  <a:moveTo>
                    <a:pt x="100457" y="24765"/>
                  </a:moveTo>
                  <a:lnTo>
                    <a:pt x="89408" y="24765"/>
                  </a:lnTo>
                  <a:lnTo>
                    <a:pt x="84200" y="25273"/>
                  </a:lnTo>
                  <a:lnTo>
                    <a:pt x="78994" y="26162"/>
                  </a:lnTo>
                  <a:lnTo>
                    <a:pt x="73660" y="27178"/>
                  </a:lnTo>
                  <a:lnTo>
                    <a:pt x="69723" y="28194"/>
                  </a:lnTo>
                  <a:lnTo>
                    <a:pt x="66928" y="28956"/>
                  </a:lnTo>
                  <a:lnTo>
                    <a:pt x="66928" y="45085"/>
                  </a:lnTo>
                  <a:lnTo>
                    <a:pt x="67690" y="45085"/>
                  </a:lnTo>
                  <a:lnTo>
                    <a:pt x="72517" y="42926"/>
                  </a:lnTo>
                  <a:lnTo>
                    <a:pt x="77343" y="41402"/>
                  </a:lnTo>
                  <a:lnTo>
                    <a:pt x="81914" y="40259"/>
                  </a:lnTo>
                  <a:lnTo>
                    <a:pt x="85915" y="39370"/>
                  </a:lnTo>
                  <a:lnTo>
                    <a:pt x="85648" y="39370"/>
                  </a:lnTo>
                  <a:lnTo>
                    <a:pt x="90677" y="38608"/>
                  </a:lnTo>
                  <a:lnTo>
                    <a:pt x="127436" y="38608"/>
                  </a:lnTo>
                  <a:lnTo>
                    <a:pt x="127126" y="37846"/>
                  </a:lnTo>
                  <a:lnTo>
                    <a:pt x="105663" y="25273"/>
                  </a:lnTo>
                  <a:lnTo>
                    <a:pt x="100457" y="24765"/>
                  </a:lnTo>
                  <a:close/>
                </a:path>
                <a:path w="285750" h="123825">
                  <a:moveTo>
                    <a:pt x="170052" y="40259"/>
                  </a:moveTo>
                  <a:lnTo>
                    <a:pt x="155828" y="40259"/>
                  </a:lnTo>
                  <a:lnTo>
                    <a:pt x="155913" y="91821"/>
                  </a:lnTo>
                  <a:lnTo>
                    <a:pt x="173609" y="122809"/>
                  </a:lnTo>
                  <a:lnTo>
                    <a:pt x="184658" y="122809"/>
                  </a:lnTo>
                  <a:lnTo>
                    <a:pt x="187451" y="122555"/>
                  </a:lnTo>
                  <a:lnTo>
                    <a:pt x="193801" y="121539"/>
                  </a:lnTo>
                  <a:lnTo>
                    <a:pt x="196723" y="120904"/>
                  </a:lnTo>
                  <a:lnTo>
                    <a:pt x="199009" y="120142"/>
                  </a:lnTo>
                  <a:lnTo>
                    <a:pt x="199389" y="120142"/>
                  </a:lnTo>
                  <a:lnTo>
                    <a:pt x="199389" y="108839"/>
                  </a:lnTo>
                  <a:lnTo>
                    <a:pt x="181863" y="108839"/>
                  </a:lnTo>
                  <a:lnTo>
                    <a:pt x="178943" y="108331"/>
                  </a:lnTo>
                  <a:lnTo>
                    <a:pt x="177037" y="107315"/>
                  </a:lnTo>
                  <a:lnTo>
                    <a:pt x="175006" y="106299"/>
                  </a:lnTo>
                  <a:lnTo>
                    <a:pt x="173482" y="104648"/>
                  </a:lnTo>
                  <a:lnTo>
                    <a:pt x="172465" y="102362"/>
                  </a:lnTo>
                  <a:lnTo>
                    <a:pt x="171196" y="99949"/>
                  </a:lnTo>
                  <a:lnTo>
                    <a:pt x="170561" y="97409"/>
                  </a:lnTo>
                  <a:lnTo>
                    <a:pt x="170052" y="91821"/>
                  </a:lnTo>
                  <a:lnTo>
                    <a:pt x="170052" y="40259"/>
                  </a:lnTo>
                  <a:close/>
                </a:path>
                <a:path w="285750" h="123825">
                  <a:moveTo>
                    <a:pt x="199389" y="105791"/>
                  </a:moveTo>
                  <a:lnTo>
                    <a:pt x="198627" y="105791"/>
                  </a:lnTo>
                  <a:lnTo>
                    <a:pt x="197485" y="106299"/>
                  </a:lnTo>
                  <a:lnTo>
                    <a:pt x="195707" y="106934"/>
                  </a:lnTo>
                  <a:lnTo>
                    <a:pt x="190626" y="108458"/>
                  </a:lnTo>
                  <a:lnTo>
                    <a:pt x="188213" y="108839"/>
                  </a:lnTo>
                  <a:lnTo>
                    <a:pt x="199389" y="108839"/>
                  </a:lnTo>
                  <a:lnTo>
                    <a:pt x="199389" y="105791"/>
                  </a:lnTo>
                  <a:close/>
                </a:path>
                <a:path w="285750" h="123825">
                  <a:moveTo>
                    <a:pt x="199389" y="26924"/>
                  </a:moveTo>
                  <a:lnTo>
                    <a:pt x="146176" y="26924"/>
                  </a:lnTo>
                  <a:lnTo>
                    <a:pt x="146176" y="40259"/>
                  </a:lnTo>
                  <a:lnTo>
                    <a:pt x="199389" y="40259"/>
                  </a:lnTo>
                  <a:lnTo>
                    <a:pt x="199389" y="26924"/>
                  </a:lnTo>
                  <a:close/>
                </a:path>
                <a:path w="285750" h="123825">
                  <a:moveTo>
                    <a:pt x="170052" y="0"/>
                  </a:moveTo>
                  <a:lnTo>
                    <a:pt x="155828" y="0"/>
                  </a:lnTo>
                  <a:lnTo>
                    <a:pt x="155828" y="26924"/>
                  </a:lnTo>
                  <a:lnTo>
                    <a:pt x="170052" y="26924"/>
                  </a:lnTo>
                  <a:lnTo>
                    <a:pt x="170052" y="0"/>
                  </a:lnTo>
                  <a:close/>
                </a:path>
                <a:path w="285750" h="123825">
                  <a:moveTo>
                    <a:pt x="250062" y="24384"/>
                  </a:moveTo>
                  <a:lnTo>
                    <a:pt x="215290" y="45277"/>
                  </a:lnTo>
                  <a:lnTo>
                    <a:pt x="208914" y="74549"/>
                  </a:lnTo>
                  <a:lnTo>
                    <a:pt x="209653" y="85504"/>
                  </a:lnTo>
                  <a:lnTo>
                    <a:pt x="211834" y="94996"/>
                  </a:lnTo>
                  <a:lnTo>
                    <a:pt x="211867" y="95138"/>
                  </a:lnTo>
                  <a:lnTo>
                    <a:pt x="243728" y="122301"/>
                  </a:lnTo>
                  <a:lnTo>
                    <a:pt x="243941" y="122301"/>
                  </a:lnTo>
                  <a:lnTo>
                    <a:pt x="253619" y="123063"/>
                  </a:lnTo>
                  <a:lnTo>
                    <a:pt x="259080" y="123063"/>
                  </a:lnTo>
                  <a:lnTo>
                    <a:pt x="264287" y="122301"/>
                  </a:lnTo>
                  <a:lnTo>
                    <a:pt x="274320" y="119253"/>
                  </a:lnTo>
                  <a:lnTo>
                    <a:pt x="279273" y="117475"/>
                  </a:lnTo>
                  <a:lnTo>
                    <a:pt x="283972" y="115189"/>
                  </a:lnTo>
                  <a:lnTo>
                    <a:pt x="283972" y="109347"/>
                  </a:lnTo>
                  <a:lnTo>
                    <a:pt x="249047" y="109347"/>
                  </a:lnTo>
                  <a:lnTo>
                    <a:pt x="245110" y="108585"/>
                  </a:lnTo>
                  <a:lnTo>
                    <a:pt x="223393" y="81407"/>
                  </a:lnTo>
                  <a:lnTo>
                    <a:pt x="223393" y="75565"/>
                  </a:lnTo>
                  <a:lnTo>
                    <a:pt x="285623" y="75565"/>
                  </a:lnTo>
                  <a:lnTo>
                    <a:pt x="285623" y="67056"/>
                  </a:lnTo>
                  <a:lnTo>
                    <a:pt x="285419" y="63617"/>
                  </a:lnTo>
                  <a:lnTo>
                    <a:pt x="223382" y="63617"/>
                  </a:lnTo>
                  <a:lnTo>
                    <a:pt x="223920" y="57382"/>
                  </a:lnTo>
                  <a:lnTo>
                    <a:pt x="241681" y="37465"/>
                  </a:lnTo>
                  <a:lnTo>
                    <a:pt x="277692" y="37465"/>
                  </a:lnTo>
                  <a:lnTo>
                    <a:pt x="276351" y="35433"/>
                  </a:lnTo>
                  <a:lnTo>
                    <a:pt x="271279" y="30599"/>
                  </a:lnTo>
                  <a:lnTo>
                    <a:pt x="265207" y="27146"/>
                  </a:lnTo>
                  <a:lnTo>
                    <a:pt x="258135" y="25074"/>
                  </a:lnTo>
                  <a:lnTo>
                    <a:pt x="250062" y="24384"/>
                  </a:lnTo>
                  <a:close/>
                </a:path>
                <a:path w="285750" h="123825">
                  <a:moveTo>
                    <a:pt x="283972" y="97917"/>
                  </a:moveTo>
                  <a:lnTo>
                    <a:pt x="283210" y="97917"/>
                  </a:lnTo>
                  <a:lnTo>
                    <a:pt x="280797" y="100457"/>
                  </a:lnTo>
                  <a:lnTo>
                    <a:pt x="276606" y="102870"/>
                  </a:lnTo>
                  <a:lnTo>
                    <a:pt x="270763" y="105410"/>
                  </a:lnTo>
                  <a:lnTo>
                    <a:pt x="264922" y="108077"/>
                  </a:lnTo>
                  <a:lnTo>
                    <a:pt x="259207" y="109347"/>
                  </a:lnTo>
                  <a:lnTo>
                    <a:pt x="283972" y="109347"/>
                  </a:lnTo>
                  <a:lnTo>
                    <a:pt x="283972" y="97917"/>
                  </a:lnTo>
                  <a:close/>
                </a:path>
                <a:path w="285750" h="123825">
                  <a:moveTo>
                    <a:pt x="277692" y="37465"/>
                  </a:moveTo>
                  <a:lnTo>
                    <a:pt x="256794" y="37465"/>
                  </a:lnTo>
                  <a:lnTo>
                    <a:pt x="262509" y="39624"/>
                  </a:lnTo>
                  <a:lnTo>
                    <a:pt x="269875" y="48768"/>
                  </a:lnTo>
                  <a:lnTo>
                    <a:pt x="271780" y="55118"/>
                  </a:lnTo>
                  <a:lnTo>
                    <a:pt x="271780" y="63617"/>
                  </a:lnTo>
                  <a:lnTo>
                    <a:pt x="285419" y="63617"/>
                  </a:lnTo>
                  <a:lnTo>
                    <a:pt x="285049" y="57382"/>
                  </a:lnTo>
                  <a:lnTo>
                    <a:pt x="283321" y="48910"/>
                  </a:lnTo>
                  <a:lnTo>
                    <a:pt x="280425" y="41606"/>
                  </a:lnTo>
                  <a:lnTo>
                    <a:pt x="277692" y="37465"/>
                  </a:lnTo>
                  <a:close/>
                </a:path>
              </a:pathLst>
            </a:custGeom>
            <a:solidFill>
              <a:srgbClr val="E3DF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970400" y="4543298"/>
              <a:ext cx="1300861" cy="166370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5781040" y="2093595"/>
            <a:ext cx="5048250" cy="3124200"/>
            <a:chOff x="5781040" y="2093595"/>
            <a:chExt cx="5048250" cy="3124200"/>
          </a:xfrm>
        </p:grpSpPr>
        <p:sp>
          <p:nvSpPr>
            <p:cNvPr id="30" name="object 30" descr=""/>
            <p:cNvSpPr/>
            <p:nvPr/>
          </p:nvSpPr>
          <p:spPr>
            <a:xfrm>
              <a:off x="5800090" y="2103120"/>
              <a:ext cx="5019675" cy="3105150"/>
            </a:xfrm>
            <a:custGeom>
              <a:avLst/>
              <a:gdLst/>
              <a:ahLst/>
              <a:cxnLst/>
              <a:rect l="l" t="t" r="r" b="b"/>
              <a:pathLst>
                <a:path w="5019675" h="3105150">
                  <a:moveTo>
                    <a:pt x="4972558" y="0"/>
                  </a:moveTo>
                  <a:lnTo>
                    <a:pt x="71247" y="0"/>
                  </a:lnTo>
                  <a:lnTo>
                    <a:pt x="51688" y="3428"/>
                  </a:lnTo>
                  <a:lnTo>
                    <a:pt x="15621" y="26035"/>
                  </a:lnTo>
                  <a:lnTo>
                    <a:pt x="0" y="62356"/>
                  </a:lnTo>
                  <a:lnTo>
                    <a:pt x="0" y="3042792"/>
                  </a:lnTo>
                  <a:lnTo>
                    <a:pt x="3937" y="3059938"/>
                  </a:lnTo>
                  <a:lnTo>
                    <a:pt x="29718" y="3091484"/>
                  </a:lnTo>
                  <a:lnTo>
                    <a:pt x="66294" y="3104718"/>
                  </a:lnTo>
                  <a:lnTo>
                    <a:pt x="71247" y="3105150"/>
                  </a:lnTo>
                  <a:lnTo>
                    <a:pt x="4972558" y="3105150"/>
                  </a:lnTo>
                  <a:lnTo>
                    <a:pt x="4975733" y="3104819"/>
                  </a:lnTo>
                  <a:lnTo>
                    <a:pt x="5002530" y="3092704"/>
                  </a:lnTo>
                  <a:lnTo>
                    <a:pt x="5019675" y="3058033"/>
                  </a:lnTo>
                  <a:lnTo>
                    <a:pt x="5019675" y="47116"/>
                  </a:lnTo>
                  <a:lnTo>
                    <a:pt x="5007229" y="17145"/>
                  </a:lnTo>
                  <a:lnTo>
                    <a:pt x="4972558" y="0"/>
                  </a:lnTo>
                  <a:close/>
                </a:path>
              </a:pathLst>
            </a:custGeom>
            <a:solidFill>
              <a:srgbClr val="25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800979" y="2093595"/>
              <a:ext cx="5028565" cy="3124200"/>
            </a:xfrm>
            <a:custGeom>
              <a:avLst/>
              <a:gdLst/>
              <a:ahLst/>
              <a:cxnLst/>
              <a:rect l="l" t="t" r="r" b="b"/>
              <a:pathLst>
                <a:path w="5028565" h="3124200">
                  <a:moveTo>
                    <a:pt x="4976241" y="0"/>
                  </a:moveTo>
                  <a:lnTo>
                    <a:pt x="75311" y="0"/>
                  </a:lnTo>
                  <a:lnTo>
                    <a:pt x="67818" y="380"/>
                  </a:lnTo>
                  <a:lnTo>
                    <a:pt x="26924" y="17272"/>
                  </a:lnTo>
                  <a:lnTo>
                    <a:pt x="2412" y="54101"/>
                  </a:lnTo>
                  <a:lnTo>
                    <a:pt x="0" y="65404"/>
                  </a:lnTo>
                  <a:lnTo>
                    <a:pt x="1016" y="61340"/>
                  </a:lnTo>
                  <a:lnTo>
                    <a:pt x="8762" y="47371"/>
                  </a:lnTo>
                  <a:lnTo>
                    <a:pt x="46100" y="23367"/>
                  </a:lnTo>
                  <a:lnTo>
                    <a:pt x="75311" y="19050"/>
                  </a:lnTo>
                  <a:lnTo>
                    <a:pt x="4968240" y="19050"/>
                  </a:lnTo>
                  <a:lnTo>
                    <a:pt x="5002530" y="37337"/>
                  </a:lnTo>
                  <a:lnTo>
                    <a:pt x="5009261" y="60071"/>
                  </a:lnTo>
                  <a:lnTo>
                    <a:pt x="5009261" y="3064129"/>
                  </a:lnTo>
                  <a:lnTo>
                    <a:pt x="4990973" y="3098406"/>
                  </a:lnTo>
                  <a:lnTo>
                    <a:pt x="4968240" y="3105150"/>
                  </a:lnTo>
                  <a:lnTo>
                    <a:pt x="75311" y="3105150"/>
                  </a:lnTo>
                  <a:lnTo>
                    <a:pt x="32893" y="3095536"/>
                  </a:lnTo>
                  <a:lnTo>
                    <a:pt x="1016" y="3062859"/>
                  </a:lnTo>
                  <a:lnTo>
                    <a:pt x="0" y="3058795"/>
                  </a:lnTo>
                  <a:lnTo>
                    <a:pt x="508" y="3062859"/>
                  </a:lnTo>
                  <a:lnTo>
                    <a:pt x="21462" y="3101886"/>
                  </a:lnTo>
                  <a:lnTo>
                    <a:pt x="60451" y="3122752"/>
                  </a:lnTo>
                  <a:lnTo>
                    <a:pt x="75311" y="3124200"/>
                  </a:lnTo>
                  <a:lnTo>
                    <a:pt x="4976241" y="3124200"/>
                  </a:lnTo>
                  <a:lnTo>
                    <a:pt x="5016373" y="3101009"/>
                  </a:lnTo>
                  <a:lnTo>
                    <a:pt x="5028311" y="3072384"/>
                  </a:lnTo>
                  <a:lnTo>
                    <a:pt x="5028311" y="51815"/>
                  </a:lnTo>
                  <a:lnTo>
                    <a:pt x="5005070" y="11937"/>
                  </a:lnTo>
                  <a:lnTo>
                    <a:pt x="4983480" y="1524"/>
                  </a:lnTo>
                  <a:lnTo>
                    <a:pt x="4976241" y="0"/>
                  </a:lnTo>
                  <a:close/>
                </a:path>
              </a:pathLst>
            </a:custGeom>
            <a:solidFill>
              <a:srgbClr val="2917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781040" y="2093595"/>
              <a:ext cx="76200" cy="3124200"/>
            </a:xfrm>
            <a:custGeom>
              <a:avLst/>
              <a:gdLst/>
              <a:ahLst/>
              <a:cxnLst/>
              <a:rect l="l" t="t" r="r" b="b"/>
              <a:pathLst>
                <a:path w="76200" h="3124200">
                  <a:moveTo>
                    <a:pt x="76200" y="0"/>
                  </a:moveTo>
                  <a:lnTo>
                    <a:pt x="56007" y="0"/>
                  </a:lnTo>
                  <a:lnTo>
                    <a:pt x="52197" y="380"/>
                  </a:lnTo>
                  <a:lnTo>
                    <a:pt x="14732" y="20320"/>
                  </a:lnTo>
                  <a:lnTo>
                    <a:pt x="0" y="56006"/>
                  </a:lnTo>
                  <a:lnTo>
                    <a:pt x="0" y="3068192"/>
                  </a:lnTo>
                  <a:lnTo>
                    <a:pt x="6096" y="3090799"/>
                  </a:lnTo>
                  <a:lnTo>
                    <a:pt x="33400" y="3118116"/>
                  </a:lnTo>
                  <a:lnTo>
                    <a:pt x="76200" y="3124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2A0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085840" y="2769869"/>
              <a:ext cx="57150" cy="1885950"/>
            </a:xfrm>
            <a:custGeom>
              <a:avLst/>
              <a:gdLst/>
              <a:ahLst/>
              <a:cxnLst/>
              <a:rect l="l" t="t" r="r" b="b"/>
              <a:pathLst>
                <a:path w="57150" h="1885950">
                  <a:moveTo>
                    <a:pt x="57150" y="1853565"/>
                  </a:moveTo>
                  <a:lnTo>
                    <a:pt x="32385" y="1828800"/>
                  </a:lnTo>
                  <a:lnTo>
                    <a:pt x="24765" y="1828800"/>
                  </a:lnTo>
                  <a:lnTo>
                    <a:pt x="0" y="1853565"/>
                  </a:lnTo>
                  <a:lnTo>
                    <a:pt x="0" y="1861185"/>
                  </a:lnTo>
                  <a:lnTo>
                    <a:pt x="24765" y="1885950"/>
                  </a:lnTo>
                  <a:lnTo>
                    <a:pt x="32385" y="1885950"/>
                  </a:lnTo>
                  <a:lnTo>
                    <a:pt x="57150" y="1861185"/>
                  </a:lnTo>
                  <a:lnTo>
                    <a:pt x="57150" y="1853565"/>
                  </a:lnTo>
                  <a:close/>
                </a:path>
                <a:path w="57150" h="1885950">
                  <a:moveTo>
                    <a:pt x="57150" y="1243965"/>
                  </a:moveTo>
                  <a:lnTo>
                    <a:pt x="32385" y="1219200"/>
                  </a:lnTo>
                  <a:lnTo>
                    <a:pt x="24765" y="1219200"/>
                  </a:lnTo>
                  <a:lnTo>
                    <a:pt x="0" y="1243965"/>
                  </a:lnTo>
                  <a:lnTo>
                    <a:pt x="0" y="1251585"/>
                  </a:lnTo>
                  <a:lnTo>
                    <a:pt x="24765" y="1276350"/>
                  </a:lnTo>
                  <a:lnTo>
                    <a:pt x="32385" y="1276350"/>
                  </a:lnTo>
                  <a:lnTo>
                    <a:pt x="57150" y="1251585"/>
                  </a:lnTo>
                  <a:lnTo>
                    <a:pt x="57150" y="1243965"/>
                  </a:lnTo>
                  <a:close/>
                </a:path>
                <a:path w="57150" h="1885950">
                  <a:moveTo>
                    <a:pt x="57150" y="634365"/>
                  </a:moveTo>
                  <a:lnTo>
                    <a:pt x="32385" y="609600"/>
                  </a:lnTo>
                  <a:lnTo>
                    <a:pt x="24765" y="609600"/>
                  </a:lnTo>
                  <a:lnTo>
                    <a:pt x="0" y="634365"/>
                  </a:lnTo>
                  <a:lnTo>
                    <a:pt x="0" y="641985"/>
                  </a:lnTo>
                  <a:lnTo>
                    <a:pt x="24765" y="666750"/>
                  </a:lnTo>
                  <a:lnTo>
                    <a:pt x="32385" y="666750"/>
                  </a:lnTo>
                  <a:lnTo>
                    <a:pt x="57150" y="641985"/>
                  </a:lnTo>
                  <a:lnTo>
                    <a:pt x="57150" y="634365"/>
                  </a:lnTo>
                  <a:close/>
                </a:path>
                <a:path w="57150" h="1885950">
                  <a:moveTo>
                    <a:pt x="57150" y="24765"/>
                  </a:moveTo>
                  <a:lnTo>
                    <a:pt x="32385" y="0"/>
                  </a:lnTo>
                  <a:lnTo>
                    <a:pt x="24765" y="0"/>
                  </a:lnTo>
                  <a:lnTo>
                    <a:pt x="0" y="24765"/>
                  </a:lnTo>
                  <a:lnTo>
                    <a:pt x="0" y="32385"/>
                  </a:lnTo>
                  <a:lnTo>
                    <a:pt x="24765" y="57150"/>
                  </a:lnTo>
                  <a:lnTo>
                    <a:pt x="32385" y="57150"/>
                  </a:lnTo>
                  <a:lnTo>
                    <a:pt x="57150" y="32385"/>
                  </a:lnTo>
                  <a:lnTo>
                    <a:pt x="57150" y="24765"/>
                  </a:lnTo>
                  <a:close/>
                </a:path>
              </a:pathLst>
            </a:custGeom>
            <a:solidFill>
              <a:srgbClr val="E3DFD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6035421" y="2270887"/>
            <a:ext cx="4509135" cy="27184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85" b="1">
                <a:solidFill>
                  <a:srgbClr val="E3DFDE"/>
                </a:solidFill>
                <a:latin typeface="Tahoma"/>
                <a:cs typeface="Tahoma"/>
              </a:rPr>
              <a:t>Future</a:t>
            </a:r>
            <a:r>
              <a:rPr dirty="0" sz="1650" spc="-165" b="1">
                <a:solidFill>
                  <a:srgbClr val="E3DFDE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3DFDE"/>
                </a:solidFill>
                <a:latin typeface="Tahoma"/>
                <a:cs typeface="Tahoma"/>
              </a:rPr>
              <a:t>Enhancements</a:t>
            </a:r>
            <a:endParaRPr sz="1650">
              <a:latin typeface="Tahoma"/>
              <a:cs typeface="Tahoma"/>
            </a:endParaRPr>
          </a:p>
          <a:p>
            <a:pPr marL="286385" marR="440690">
              <a:lnSpc>
                <a:spcPct val="134800"/>
              </a:lnSpc>
              <a:spcBef>
                <a:spcPts val="530"/>
              </a:spcBef>
            </a:pP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Machine</a:t>
            </a:r>
            <a:r>
              <a:rPr dirty="0" sz="1350" spc="-13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learning</a:t>
            </a:r>
            <a:r>
              <a:rPr dirty="0" sz="1350" spc="-13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integration</a:t>
            </a:r>
            <a:r>
              <a:rPr dirty="0" sz="1350" spc="-12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3DFDE"/>
                </a:solidFill>
                <a:latin typeface="Verdana"/>
                <a:cs typeface="Verdana"/>
              </a:rPr>
              <a:t>for</a:t>
            </a:r>
            <a:r>
              <a:rPr dirty="0" sz="1350" spc="-12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predictive</a:t>
            </a:r>
            <a:r>
              <a:rPr dirty="0" sz="1350" spc="-12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3DFDE"/>
                </a:solidFill>
                <a:latin typeface="Verdana"/>
                <a:cs typeface="Verdana"/>
              </a:rPr>
              <a:t>threat 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modelling</a:t>
            </a:r>
            <a:r>
              <a:rPr dirty="0" sz="1350" spc="-1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3DFDE"/>
                </a:solidFill>
                <a:latin typeface="Verdana"/>
                <a:cs typeface="Verdana"/>
              </a:rPr>
              <a:t>and</a:t>
            </a:r>
            <a:r>
              <a:rPr dirty="0" sz="1350" spc="-1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3DFDE"/>
                </a:solidFill>
                <a:latin typeface="Verdana"/>
                <a:cs typeface="Verdana"/>
              </a:rPr>
              <a:t>anomaly</a:t>
            </a:r>
            <a:r>
              <a:rPr dirty="0" sz="1350" spc="-12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detection</a:t>
            </a:r>
            <a:endParaRPr sz="1350">
              <a:latin typeface="Verdana"/>
              <a:cs typeface="Verdana"/>
            </a:endParaRPr>
          </a:p>
          <a:p>
            <a:pPr marL="286385" marR="5080">
              <a:lnSpc>
                <a:spcPct val="134800"/>
              </a:lnSpc>
              <a:spcBef>
                <a:spcPts val="430"/>
              </a:spcBef>
            </a:pPr>
            <a:r>
              <a:rPr dirty="0" sz="1350" spc="-85">
                <a:solidFill>
                  <a:srgbClr val="E3DFDE"/>
                </a:solidFill>
                <a:latin typeface="Verdana"/>
                <a:cs typeface="Verdana"/>
              </a:rPr>
              <a:t>Cloud-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native</a:t>
            </a:r>
            <a:r>
              <a:rPr dirty="0" sz="1350" spc="-13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architecture</a:t>
            </a:r>
            <a:r>
              <a:rPr dirty="0" sz="1350" spc="-15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supporting</a:t>
            </a:r>
            <a:r>
              <a:rPr dirty="0" sz="1350" spc="-13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AWS,</a:t>
            </a:r>
            <a:r>
              <a:rPr dirty="0" sz="1350" spc="-12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Azure,</a:t>
            </a:r>
            <a:r>
              <a:rPr dirty="0" sz="1350" spc="-1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3DFDE"/>
                </a:solidFill>
                <a:latin typeface="Verdana"/>
                <a:cs typeface="Verdana"/>
              </a:rPr>
              <a:t>and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GCP</a:t>
            </a:r>
            <a:r>
              <a:rPr dirty="0" sz="1350" spc="-16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environments</a:t>
            </a:r>
            <a:endParaRPr sz="1350">
              <a:latin typeface="Verdana"/>
              <a:cs typeface="Verdana"/>
            </a:endParaRPr>
          </a:p>
          <a:p>
            <a:pPr marL="286385" marR="90805">
              <a:lnSpc>
                <a:spcPct val="134800"/>
              </a:lnSpc>
              <a:spcBef>
                <a:spcPts val="420"/>
              </a:spcBef>
            </a:pP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Automated</a:t>
            </a:r>
            <a:r>
              <a:rPr dirty="0" sz="1350" spc="-12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remediation</a:t>
            </a:r>
            <a:r>
              <a:rPr dirty="0" sz="1350" spc="-114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3DFDE"/>
                </a:solidFill>
                <a:latin typeface="Verdana"/>
                <a:cs typeface="Verdana"/>
              </a:rPr>
              <a:t>workflows</a:t>
            </a:r>
            <a:r>
              <a:rPr dirty="0" sz="1350" spc="-12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3DFDE"/>
                </a:solidFill>
                <a:latin typeface="Verdana"/>
                <a:cs typeface="Verdana"/>
              </a:rPr>
              <a:t>triggering</a:t>
            </a:r>
            <a:r>
              <a:rPr dirty="0" sz="1350" spc="-12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3DFDE"/>
                </a:solidFill>
                <a:latin typeface="Verdana"/>
                <a:cs typeface="Verdana"/>
              </a:rPr>
              <a:t>security </a:t>
            </a:r>
            <a:r>
              <a:rPr dirty="0" sz="1350" spc="-40">
                <a:solidFill>
                  <a:srgbClr val="E3DFDE"/>
                </a:solidFill>
                <a:latin typeface="Verdana"/>
                <a:cs typeface="Verdana"/>
              </a:rPr>
              <a:t>control</a:t>
            </a:r>
            <a:r>
              <a:rPr dirty="0" sz="1350" spc="-15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adjustments</a:t>
            </a:r>
            <a:endParaRPr sz="1350">
              <a:latin typeface="Verdana"/>
              <a:cs typeface="Verdana"/>
            </a:endParaRPr>
          </a:p>
          <a:p>
            <a:pPr marL="286385" marR="257810">
              <a:lnSpc>
                <a:spcPct val="130400"/>
              </a:lnSpc>
              <a:spcBef>
                <a:spcPts val="509"/>
              </a:spcBef>
            </a:pP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Extended</a:t>
            </a:r>
            <a:r>
              <a:rPr dirty="0" sz="1350" spc="-15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compliance</a:t>
            </a:r>
            <a:r>
              <a:rPr dirty="0" sz="1350" spc="-15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3DFDE"/>
                </a:solidFill>
                <a:latin typeface="Verdana"/>
                <a:cs typeface="Verdana"/>
              </a:rPr>
              <a:t>frameworks</a:t>
            </a:r>
            <a:r>
              <a:rPr dirty="0" sz="1350" spc="-14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3DFDE"/>
                </a:solidFill>
                <a:latin typeface="Verdana"/>
                <a:cs typeface="Verdana"/>
              </a:rPr>
              <a:t>including</a:t>
            </a:r>
            <a:r>
              <a:rPr dirty="0" sz="1350" spc="-14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GDPR, </a:t>
            </a:r>
            <a:r>
              <a:rPr dirty="0" sz="1350" spc="-20">
                <a:solidFill>
                  <a:srgbClr val="E3DFDE"/>
                </a:solidFill>
                <a:latin typeface="Verdana"/>
                <a:cs typeface="Verdana"/>
              </a:rPr>
              <a:t>HIPAA,</a:t>
            </a:r>
            <a:r>
              <a:rPr dirty="0" sz="1350" spc="-1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and</a:t>
            </a:r>
            <a:r>
              <a:rPr dirty="0" sz="1350" spc="-145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3DFDE"/>
                </a:solidFill>
                <a:latin typeface="Verdana"/>
                <a:cs typeface="Verdana"/>
              </a:rPr>
              <a:t>PCI</a:t>
            </a:r>
            <a:r>
              <a:rPr dirty="0" sz="1350" spc="-150">
                <a:solidFill>
                  <a:srgbClr val="E3DFDE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3DFDE"/>
                </a:solidFill>
                <a:latin typeface="Verdana"/>
                <a:cs typeface="Verdana"/>
              </a:rPr>
              <a:t>DSS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819900"/>
          </a:xfrm>
          <a:custGeom>
            <a:avLst/>
            <a:gdLst/>
            <a:ahLst/>
            <a:cxnLst/>
            <a:rect l="l" t="t" r="r" b="b"/>
            <a:pathLst>
              <a:path w="11430000" h="6819900">
                <a:moveTo>
                  <a:pt x="11430000" y="0"/>
                </a:moveTo>
                <a:lnTo>
                  <a:pt x="0" y="0"/>
                </a:lnTo>
                <a:lnTo>
                  <a:pt x="0" y="6819900"/>
                </a:lnTo>
                <a:lnTo>
                  <a:pt x="11430000" y="6819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5232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Conclusion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7755" y="5369762"/>
            <a:ext cx="2660015" cy="9442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-75" b="1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r>
              <a:rPr dirty="0" sz="2700" spc="-37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-25" b="1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endParaRPr sz="2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70"/>
              </a:spcBef>
            </a:pP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Questions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4DFDF"/>
                </a:solidFill>
                <a:latin typeface="Verdana"/>
                <a:cs typeface="Verdana"/>
              </a:rPr>
              <a:t>feedback</a:t>
            </a:r>
            <a:r>
              <a:rPr dirty="0" sz="1350" spc="-12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4DFDF"/>
                </a:solidFill>
                <a:latin typeface="Verdana"/>
                <a:cs typeface="Verdana"/>
              </a:rPr>
              <a:t>welcome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559" y="0"/>
            <a:ext cx="4282440" cy="681926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0075" y="1264983"/>
            <a:ext cx="2886011" cy="210502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767587" y="1432305"/>
            <a:ext cx="138684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50" b="1">
                <a:solidFill>
                  <a:srgbClr val="E4DFDF"/>
                </a:solidFill>
                <a:latin typeface="Tahoma"/>
                <a:cs typeface="Tahoma"/>
              </a:rPr>
              <a:t>Agile</a:t>
            </a:r>
            <a:r>
              <a:rPr dirty="0" sz="1650" spc="-160" b="1">
                <a:solidFill>
                  <a:srgbClr val="E4DF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4DFDF"/>
                </a:solidFill>
                <a:latin typeface="Tahoma"/>
                <a:cs typeface="Tahoma"/>
              </a:rPr>
              <a:t>Success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67587" y="2095626"/>
            <a:ext cx="244792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working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features</a:t>
            </a:r>
            <a:r>
              <a:rPr dirty="0" sz="1350" spc="-12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every</a:t>
            </a:r>
            <a:r>
              <a:rPr dirty="0" sz="1350" spc="-13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sprint,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67587" y="2642742"/>
            <a:ext cx="245872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rapid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platform</a:t>
            </a:r>
            <a:r>
              <a:rPr dirty="0" sz="1350" spc="-1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maturation.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7536" y="1264983"/>
            <a:ext cx="2886075" cy="210502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825366" y="1432305"/>
            <a:ext cx="2374900" cy="278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50" b="1">
                <a:solidFill>
                  <a:srgbClr val="E4DFDF"/>
                </a:solidFill>
                <a:latin typeface="Tahoma"/>
                <a:cs typeface="Tahoma"/>
              </a:rPr>
              <a:t>Technical</a:t>
            </a:r>
            <a:r>
              <a:rPr dirty="0" sz="1650" spc="-100" b="1">
                <a:solidFill>
                  <a:srgbClr val="E4DF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4DFDF"/>
                </a:solidFill>
                <a:latin typeface="Tahoma"/>
                <a:cs typeface="Tahoma"/>
              </a:rPr>
              <a:t>Achievement</a:t>
            </a:r>
            <a:endParaRPr sz="165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825366" y="2029485"/>
            <a:ext cx="2318385" cy="11182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2800"/>
              </a:lnSpc>
              <a:spcBef>
                <a:spcPts val="95"/>
              </a:spcBef>
            </a:pPr>
            <a:r>
              <a:rPr dirty="0" sz="1350" spc="-40">
                <a:solidFill>
                  <a:srgbClr val="E4DFDF"/>
                </a:solidFill>
                <a:latin typeface="Verdana"/>
                <a:cs typeface="Verdana"/>
              </a:rPr>
              <a:t>automated</a:t>
            </a:r>
            <a:r>
              <a:rPr dirty="0" sz="1350" spc="-1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risk</a:t>
            </a:r>
            <a:r>
              <a:rPr dirty="0" sz="1350" spc="-14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scoring,</a:t>
            </a:r>
            <a:r>
              <a:rPr dirty="0" sz="1350" spc="-1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4DFDF"/>
                </a:solidFill>
                <a:latin typeface="Verdana"/>
                <a:cs typeface="Verdana"/>
              </a:rPr>
              <a:t>and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intuitive</a:t>
            </a:r>
            <a:r>
              <a:rPr dirty="0" sz="1350" spc="-9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4DFDF"/>
                </a:solidFill>
                <a:latin typeface="Verdana"/>
                <a:cs typeface="Verdana"/>
              </a:rPr>
              <a:t>dashboards</a:t>
            </a:r>
            <a:r>
              <a:rPr dirty="0" sz="1350" spc="-8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4DFDF"/>
                </a:solidFill>
                <a:latin typeface="Verdana"/>
                <a:cs typeface="Verdana"/>
              </a:rPr>
              <a:t>provide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comprehensive</a:t>
            </a:r>
            <a:r>
              <a:rPr dirty="0" sz="1350" spc="-4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security visibility.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0075" y="3541458"/>
            <a:ext cx="5943600" cy="1276350"/>
            <a:chOff x="600075" y="3541458"/>
            <a:chExt cx="5943600" cy="1276350"/>
          </a:xfrm>
        </p:grpSpPr>
        <p:sp>
          <p:nvSpPr>
            <p:cNvPr id="14" name="object 14" descr=""/>
            <p:cNvSpPr/>
            <p:nvPr/>
          </p:nvSpPr>
          <p:spPr>
            <a:xfrm>
              <a:off x="604837" y="3546220"/>
              <a:ext cx="5934075" cy="1266825"/>
            </a:xfrm>
            <a:custGeom>
              <a:avLst/>
              <a:gdLst/>
              <a:ahLst/>
              <a:cxnLst/>
              <a:rect l="l" t="t" r="r" b="b"/>
              <a:pathLst>
                <a:path w="5934075" h="1266825">
                  <a:moveTo>
                    <a:pt x="5882449" y="0"/>
                  </a:moveTo>
                  <a:lnTo>
                    <a:pt x="51612" y="0"/>
                  </a:lnTo>
                  <a:lnTo>
                    <a:pt x="48031" y="253"/>
                  </a:lnTo>
                  <a:lnTo>
                    <a:pt x="13614" y="18669"/>
                  </a:lnTo>
                  <a:lnTo>
                    <a:pt x="0" y="51562"/>
                  </a:lnTo>
                  <a:lnTo>
                    <a:pt x="0" y="1215136"/>
                  </a:lnTo>
                  <a:lnTo>
                    <a:pt x="18745" y="1253108"/>
                  </a:lnTo>
                  <a:lnTo>
                    <a:pt x="51612" y="1266825"/>
                  </a:lnTo>
                  <a:lnTo>
                    <a:pt x="5882449" y="1266825"/>
                  </a:lnTo>
                  <a:lnTo>
                    <a:pt x="5920422" y="1248029"/>
                  </a:lnTo>
                  <a:lnTo>
                    <a:pt x="5934011" y="1215136"/>
                  </a:lnTo>
                  <a:lnTo>
                    <a:pt x="5934011" y="51562"/>
                  </a:lnTo>
                  <a:lnTo>
                    <a:pt x="5915342" y="13588"/>
                  </a:lnTo>
                  <a:lnTo>
                    <a:pt x="5886005" y="253"/>
                  </a:lnTo>
                  <a:lnTo>
                    <a:pt x="5882449" y="0"/>
                  </a:lnTo>
                  <a:close/>
                </a:path>
              </a:pathLst>
            </a:custGeom>
            <a:solidFill>
              <a:srgbClr val="0F00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04837" y="3546220"/>
              <a:ext cx="5934075" cy="1266825"/>
            </a:xfrm>
            <a:custGeom>
              <a:avLst/>
              <a:gdLst/>
              <a:ahLst/>
              <a:cxnLst/>
              <a:rect l="l" t="t" r="r" b="b"/>
              <a:pathLst>
                <a:path w="5934075" h="1266825">
                  <a:moveTo>
                    <a:pt x="0" y="1211580"/>
                  </a:moveTo>
                  <a:lnTo>
                    <a:pt x="0" y="55244"/>
                  </a:lnTo>
                  <a:lnTo>
                    <a:pt x="0" y="51562"/>
                  </a:lnTo>
                  <a:lnTo>
                    <a:pt x="355" y="48006"/>
                  </a:lnTo>
                  <a:lnTo>
                    <a:pt x="1054" y="44450"/>
                  </a:lnTo>
                  <a:lnTo>
                    <a:pt x="1765" y="40893"/>
                  </a:lnTo>
                  <a:lnTo>
                    <a:pt x="2819" y="37337"/>
                  </a:lnTo>
                  <a:lnTo>
                    <a:pt x="4203" y="34036"/>
                  </a:lnTo>
                  <a:lnTo>
                    <a:pt x="5587" y="30733"/>
                  </a:lnTo>
                  <a:lnTo>
                    <a:pt x="44462" y="101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766" y="0"/>
                  </a:lnTo>
                  <a:lnTo>
                    <a:pt x="5882449" y="0"/>
                  </a:lnTo>
                  <a:lnTo>
                    <a:pt x="5886005" y="253"/>
                  </a:lnTo>
                  <a:lnTo>
                    <a:pt x="5889561" y="1015"/>
                  </a:lnTo>
                  <a:lnTo>
                    <a:pt x="5893117" y="1650"/>
                  </a:lnTo>
                  <a:lnTo>
                    <a:pt x="5932995" y="44450"/>
                  </a:lnTo>
                  <a:lnTo>
                    <a:pt x="5934011" y="51562"/>
                  </a:lnTo>
                  <a:lnTo>
                    <a:pt x="5934011" y="55244"/>
                  </a:lnTo>
                  <a:lnTo>
                    <a:pt x="5934011" y="1211580"/>
                  </a:lnTo>
                  <a:lnTo>
                    <a:pt x="5934011" y="1215136"/>
                  </a:lnTo>
                  <a:lnTo>
                    <a:pt x="5933757" y="1218692"/>
                  </a:lnTo>
                  <a:lnTo>
                    <a:pt x="5932995" y="1222248"/>
                  </a:lnTo>
                  <a:lnTo>
                    <a:pt x="5932360" y="1225804"/>
                  </a:lnTo>
                  <a:lnTo>
                    <a:pt x="5889561" y="1265682"/>
                  </a:lnTo>
                  <a:lnTo>
                    <a:pt x="5882449" y="1266825"/>
                  </a:lnTo>
                  <a:lnTo>
                    <a:pt x="5878766" y="1266825"/>
                  </a:lnTo>
                  <a:lnTo>
                    <a:pt x="55245" y="1266825"/>
                  </a:lnTo>
                  <a:lnTo>
                    <a:pt x="51612" y="1266825"/>
                  </a:lnTo>
                  <a:lnTo>
                    <a:pt x="48031" y="1266444"/>
                  </a:lnTo>
                  <a:lnTo>
                    <a:pt x="44462" y="1265682"/>
                  </a:lnTo>
                  <a:lnTo>
                    <a:pt x="40906" y="1265047"/>
                  </a:lnTo>
                  <a:lnTo>
                    <a:pt x="9309" y="1242187"/>
                  </a:lnTo>
                  <a:lnTo>
                    <a:pt x="7289" y="1239139"/>
                  </a:lnTo>
                  <a:lnTo>
                    <a:pt x="5587" y="1235964"/>
                  </a:lnTo>
                  <a:lnTo>
                    <a:pt x="4203" y="1232662"/>
                  </a:lnTo>
                  <a:lnTo>
                    <a:pt x="2819" y="1229360"/>
                  </a:lnTo>
                  <a:lnTo>
                    <a:pt x="1765" y="1225804"/>
                  </a:lnTo>
                  <a:lnTo>
                    <a:pt x="1054" y="1222248"/>
                  </a:lnTo>
                  <a:lnTo>
                    <a:pt x="355" y="1218692"/>
                  </a:lnTo>
                  <a:lnTo>
                    <a:pt x="0" y="1215136"/>
                  </a:lnTo>
                  <a:lnTo>
                    <a:pt x="0" y="1211580"/>
                  </a:lnTo>
                  <a:close/>
                </a:path>
              </a:pathLst>
            </a:custGeom>
            <a:ln w="9525">
              <a:solidFill>
                <a:srgbClr val="2A17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767587" y="3708272"/>
            <a:ext cx="5143500" cy="8921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650" spc="-85" b="1">
                <a:solidFill>
                  <a:srgbClr val="E4DFDF"/>
                </a:solidFill>
                <a:latin typeface="Tahoma"/>
                <a:cs typeface="Tahoma"/>
              </a:rPr>
              <a:t>Future-</a:t>
            </a:r>
            <a:r>
              <a:rPr dirty="0" sz="1650" spc="-20" b="1">
                <a:solidFill>
                  <a:srgbClr val="E4DFDF"/>
                </a:solidFill>
                <a:latin typeface="Tahoma"/>
                <a:cs typeface="Tahoma"/>
              </a:rPr>
              <a:t>Ready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1100"/>
              </a:lnSpc>
              <a:spcBef>
                <a:spcPts val="590"/>
              </a:spcBef>
            </a:pPr>
            <a:r>
              <a:rPr dirty="0" sz="1350" spc="-80">
                <a:solidFill>
                  <a:srgbClr val="E4DFDF"/>
                </a:solidFill>
                <a:latin typeface="Verdana"/>
                <a:cs typeface="Verdana"/>
              </a:rPr>
              <a:t>Extensible</a:t>
            </a:r>
            <a:r>
              <a:rPr dirty="0" sz="1350" spc="-1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architecture</a:t>
            </a:r>
            <a:r>
              <a:rPr dirty="0" sz="1350" spc="-1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7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roadmap</a:t>
            </a:r>
            <a:r>
              <a:rPr dirty="0" sz="1350" spc="-17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4DFDF"/>
                </a:solidFill>
                <a:latin typeface="Verdana"/>
                <a:cs typeface="Verdana"/>
              </a:rPr>
              <a:t>ensure</a:t>
            </a:r>
            <a:r>
              <a:rPr dirty="0" sz="1350" spc="-1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platform</a:t>
            </a:r>
            <a:r>
              <a:rPr dirty="0" sz="1350" spc="-1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4DFDF"/>
                </a:solidFill>
                <a:latin typeface="Verdana"/>
                <a:cs typeface="Verdana"/>
              </a:rPr>
              <a:t>evolves</a:t>
            </a:r>
            <a:r>
              <a:rPr dirty="0" sz="1350" spc="-1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4DFDF"/>
                </a:solidFill>
                <a:latin typeface="Verdana"/>
                <a:cs typeface="Verdana"/>
              </a:rPr>
              <a:t>with 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emerging</a:t>
            </a:r>
            <a:r>
              <a:rPr dirty="0" sz="1350" spc="-16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4DFDF"/>
                </a:solidFill>
                <a:latin typeface="Verdana"/>
                <a:cs typeface="Verdana"/>
              </a:rPr>
              <a:t>threats</a:t>
            </a:r>
            <a:r>
              <a:rPr dirty="0" sz="1350" spc="-155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4DFDF"/>
                </a:solidFill>
                <a:latin typeface="Verdana"/>
                <a:cs typeface="Verdana"/>
              </a:rPr>
              <a:t>and</a:t>
            </a:r>
            <a:r>
              <a:rPr dirty="0" sz="1350" spc="-18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4DFDF"/>
                </a:solidFill>
                <a:latin typeface="Verdana"/>
                <a:cs typeface="Verdana"/>
              </a:rPr>
              <a:t>compliance</a:t>
            </a:r>
            <a:r>
              <a:rPr dirty="0" sz="1350" spc="-160">
                <a:solidFill>
                  <a:srgbClr val="E4DF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4DFDF"/>
                </a:solidFill>
                <a:latin typeface="Verdana"/>
                <a:cs typeface="Verdana"/>
              </a:rPr>
              <a:t>requirements.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600075" y="5099049"/>
            <a:ext cx="5943600" cy="28575"/>
            <a:chOff x="600075" y="5099049"/>
            <a:chExt cx="5943600" cy="28575"/>
          </a:xfrm>
        </p:grpSpPr>
        <p:sp>
          <p:nvSpPr>
            <p:cNvPr id="18" name="object 18" descr=""/>
            <p:cNvSpPr/>
            <p:nvPr/>
          </p:nvSpPr>
          <p:spPr>
            <a:xfrm>
              <a:off x="600075" y="5099049"/>
              <a:ext cx="5943600" cy="28575"/>
            </a:xfrm>
            <a:custGeom>
              <a:avLst/>
              <a:gdLst/>
              <a:ahLst/>
              <a:cxnLst/>
              <a:rect l="l" t="t" r="r" b="b"/>
              <a:pathLst>
                <a:path w="5943600" h="28575">
                  <a:moveTo>
                    <a:pt x="5943600" y="0"/>
                  </a:moveTo>
                  <a:lnTo>
                    <a:pt x="0" y="0"/>
                  </a:lnTo>
                  <a:lnTo>
                    <a:pt x="0" y="28575"/>
                  </a:lnTo>
                  <a:lnTo>
                    <a:pt x="5943600" y="2857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E4DFDF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00075" y="5118099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5943600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5943600" y="9525"/>
                  </a:lnTo>
                  <a:lnTo>
                    <a:pt x="5943600" y="0"/>
                  </a:lnTo>
                  <a:close/>
                </a:path>
              </a:pathLst>
            </a:custGeom>
            <a:solidFill>
              <a:srgbClr val="EBEBEC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2026-03-27T13:27:59Z</dcterms:created>
  <dcterms:modified xsi:type="dcterms:W3CDTF">2026-03-27T13:27:59Z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2026-03-27T00:00:00Z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2026-03-27T00:00:00Z</vt:filetime>
  </property>
  <property fmtid="{D5CDD505-2E9C-101B-9397-08002B2CF9AE}" pid="5" name="Producer">
    <vt:lpwstr>www.ilovepdf.com</vt:lpwstr>
  </property>
</Properties>
</file>